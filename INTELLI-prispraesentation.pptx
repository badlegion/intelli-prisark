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0c7e1274da4150" /><Relationship Type="http://schemas.openxmlformats.org/officeDocument/2006/relationships/extended-properties" Target="/docProps/app.xml" Id="R011b999f6f174118" /><Relationship Type="http://schemas.openxmlformats.org/officeDocument/2006/relationships/officeDocument" Target="/ppt/presentation.xml" Id="R72b0bb891b0049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6b984afe4ba48bf"/>
  </p:sldMasterIdLst>
  <p:notesMasterIdLst>
    <p:notesMasterId xmlns:r="http://schemas.openxmlformats.org/officeDocument/2006/relationships" r:id="R9d195bf80c604526"/>
  </p:notesMasterIdLst>
  <p:sldIdLst>
    <p:sldId xmlns:r="http://schemas.openxmlformats.org/officeDocument/2006/relationships" id="256" r:id="Rae7b580199e84e73"/>
    <p:sldId xmlns:r="http://schemas.openxmlformats.org/officeDocument/2006/relationships" id="257" r:id="Ra710373e88b54182"/>
    <p:sldId xmlns:r="http://schemas.openxmlformats.org/officeDocument/2006/relationships" id="258" r:id="Rfd4746d44da04be2"/>
    <p:sldId xmlns:r="http://schemas.openxmlformats.org/officeDocument/2006/relationships" id="259" r:id="R11209fa612b5407a"/>
    <p:sldId xmlns:r="http://schemas.openxmlformats.org/officeDocument/2006/relationships" id="260" r:id="Re8dbaccef0fa4f7d"/>
    <p:sldId xmlns:r="http://schemas.openxmlformats.org/officeDocument/2006/relationships" id="261" r:id="R28ae5671844149a8"/>
    <p:sldId xmlns:r="http://schemas.openxmlformats.org/officeDocument/2006/relationships" id="262" r:id="R521946413545459e"/>
    <p:sldId xmlns:r="http://schemas.openxmlformats.org/officeDocument/2006/relationships" id="263" r:id="R1c219c2c1045431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df1bf86b944390" /><Relationship Type="http://schemas.openxmlformats.org/officeDocument/2006/relationships/slideMaster" Target="/ppt/slideMasters/slideMaster1.xml" Id="Rb6b984afe4ba48bf" /><Relationship Type="http://schemas.openxmlformats.org/officeDocument/2006/relationships/notesMaster" Target="/ppt/notesMasters/notesMaster1.xml" Id="R9d195bf80c604526" /><Relationship Type="http://schemas.openxmlformats.org/officeDocument/2006/relationships/presProps" Target="/ppt/presProps.xml" Id="R881e9f69b7cf41f3" /><Relationship Type="http://schemas.openxmlformats.org/officeDocument/2006/relationships/tableStyles" Target="/ppt/tableStyles.xml" Id="R842a0d55d14e49cc" /><Relationship Type="http://schemas.openxmlformats.org/officeDocument/2006/relationships/slide" Target="/ppt/slides/slide1.xml" Id="Rae7b580199e84e73" /><Relationship Type="http://schemas.openxmlformats.org/officeDocument/2006/relationships/slide" Target="/ppt/slides/slide2.xml" Id="Ra710373e88b54182" /><Relationship Type="http://schemas.openxmlformats.org/officeDocument/2006/relationships/slide" Target="/ppt/slides/slide3.xml" Id="Rfd4746d44da04be2" /><Relationship Type="http://schemas.openxmlformats.org/officeDocument/2006/relationships/slide" Target="/ppt/slides/slide4.xml" Id="R11209fa612b5407a" /><Relationship Type="http://schemas.openxmlformats.org/officeDocument/2006/relationships/slide" Target="/ppt/slides/slide5.xml" Id="Re8dbaccef0fa4f7d" /><Relationship Type="http://schemas.openxmlformats.org/officeDocument/2006/relationships/slide" Target="/ppt/slides/slide6.xml" Id="R28ae5671844149a8" /><Relationship Type="http://schemas.openxmlformats.org/officeDocument/2006/relationships/slide" Target="/ppt/slides/slide7.xml" Id="R521946413545459e" /><Relationship Type="http://schemas.openxmlformats.org/officeDocument/2006/relationships/slide" Target="/ppt/slides/slide8.xml" Id="R1c219c2c104543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6b6c0d51224f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2e89b70c9a45b0" /><Relationship Type="http://schemas.openxmlformats.org/officeDocument/2006/relationships/notesMaster" Target="/ppt/notesMasters/notesMaster1.xml" Id="R6db64dbe2a8c4e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9d3c33cf29d46b2" /><Relationship Type="http://schemas.openxmlformats.org/officeDocument/2006/relationships/notesMaster" Target="/ppt/notesMasters/notesMaster1.xml" Id="Rdcc81a5ee2aa45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01a12ff6af4383" /><Relationship Type="http://schemas.openxmlformats.org/officeDocument/2006/relationships/notesMaster" Target="/ppt/notesMasters/notesMaster1.xml" Id="R17522d74c5ca4c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95334374a754bda" /><Relationship Type="http://schemas.openxmlformats.org/officeDocument/2006/relationships/notesMaster" Target="/ppt/notesMasters/notesMaster1.xml" Id="R5cc06ef4ccda455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c1cec53c72d4cdd" /><Relationship Type="http://schemas.openxmlformats.org/officeDocument/2006/relationships/notesMaster" Target="/ppt/notesMasters/notesMaster1.xml" Id="Rd270b6c9e99f4b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7aaa9d49844e47" /><Relationship Type="http://schemas.openxmlformats.org/officeDocument/2006/relationships/notesMaster" Target="/ppt/notesMasters/notesMaster1.xml" Id="R192c7f4148ec4a0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fa513ed9e440a6" /><Relationship Type="http://schemas.openxmlformats.org/officeDocument/2006/relationships/notesMaster" Target="/ppt/notesMasters/notesMaster1.xml" Id="Rc0102ac4f6ff44d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64dd664da84737" /><Relationship Type="http://schemas.openxmlformats.org/officeDocument/2006/relationships/notesMaster" Target="/ppt/notesMasters/notesMaster1.xml" Id="Rc25b38daa20f40a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Første minut: AI 0,22 + telefoni 0,04 = 0,26 kr. (inkl. 20 % AI-reserve). DB = salg - kost, før fast drift. Påbegyndte minutter.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Skøn: 3 svar/min., 40 % AI-tale, 4.000 prompttokens og fuld inputstream. Historik genlæses. Beløb beregnes før afrunding.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Server regnes én gang pr. installation. Kapacitet er skøn. Særtilbud: 20 for 60.000,00 kr./md. er ikke indregnet 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Kost summeres før afrunding. Ekstra AI-mail: 0,15 kr./behandling; webchat: 0,25 kr./svar. Pakkerne er tillæg til telefoni.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https://gatewayapi.com/pricing/</a:t>
            </a:r>
          </a:p>
          <a:p xmlns:a="http://schemas.openxmlformats.org/drawingml/2006/main">
            <a:r>
              <a:t>https://www.twilio.com/en-us/sms/pricing/dk</a:t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Kost = AI 6.276,11 + omstilling 3.811,95 + nummer 96,75 = 10.184,81 kr.</a:t>
            </a:r>
          </a:p>
          <a:p xmlns:a="http://schemas.openxmlformats.org/drawingml/2006/main">
            <a:r>
              <a:t>Månedstotaler beregnes før afrunding. Ingen SMS, partner eller gebyr.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https://www.twilio.com/en-us/sip-trunking/pricing/dk</a:t>
            </a:r>
          </a:p>
          <a:p xmlns:a="http://schemas.openxmlformats.org/drawingml/2006/main">
            <a:r>
              <a:t>https://www.twilio.com/docs/sip-trunking/call-transfer#pricing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Resultat = DB - server 74,60 kr. - supportreserve 500,00 kr. Ingen SMS, gebyr eller ejerløn. Partnerprovision er ikke aftalt.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Regnegrundlag: https://badlegion.github.io/intelli-prisark/GRUNDLAG.md</a:t>
            </a:r>
          </a:p>
          <a:p xmlns:a="http://schemas.openxmlformats.org/drawingml/2006/main">
            <a:r>
              <a:t>Alle kronebeløb er ekskl. moms. AI-kost er budget inkl. 20 % reserve. Tal summeres med fuld præcision før visning i øre.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Kilder: badlegion.github.io/intelli-prisark/GRUNDLAG.md. Opstart, integrationer, SLA og udvikling er ikke prissat.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https://ai.google.dev/gemini-api/docs/pricing</a:t>
            </a:r>
          </a:p>
          <a:p xmlns:a="http://schemas.openxmlformats.org/drawingml/2006/main">
            <a:r>
              <a:t>https://ai.google.dev/gemini-api/docs/live-api/best-practices#pricing-billing</a:t>
            </a:r>
          </a:p>
          <a:p xmlns:a="http://schemas.openxmlformats.org/drawingml/2006/main">
            <a:r>
              <a:t>https://cloud.google.com/vertex-ai/generative-ai/pricing</a:t>
            </a:r>
          </a:p>
          <a:p xmlns:a="http://schemas.openxmlformats.org/drawingml/2006/main">
            <a:r>
              <a:t>https://ai.google.dev/gemini-api/docs/live-api/capabilities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ecc102b4a449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b607048774411c" /><Relationship Type="http://schemas.openxmlformats.org/officeDocument/2006/relationships/slideLayout" Target="/ppt/slideLayouts/slideLayout1.xml" Id="Rc1edbdecda9b48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edbdecda9b48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d5bc9257d48fe" /><Relationship Type="http://schemas.openxmlformats.org/officeDocument/2006/relationships/notesSlide" Target="/ppt/notesSlides/notesSlide1.xml" Id="R84cc56a90c514c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74737f8ca743b0" /><Relationship Type="http://schemas.openxmlformats.org/officeDocument/2006/relationships/notesSlide" Target="/ppt/notesSlides/notesSlide2.xml" Id="Rf1376b8d511e4f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395ff64bc74940" /><Relationship Type="http://schemas.openxmlformats.org/officeDocument/2006/relationships/notesSlide" Target="/ppt/notesSlides/notesSlide3.xml" Id="R0ee9163398334d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caa112e07c44ba" /><Relationship Type="http://schemas.openxmlformats.org/officeDocument/2006/relationships/notesSlide" Target="/ppt/notesSlides/notesSlide4.xml" Id="R05442058272d47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8ef6aee0ac4d33" /><Relationship Type="http://schemas.openxmlformats.org/officeDocument/2006/relationships/notesSlide" Target="/ppt/notesSlides/notesSlide5.xml" Id="Rfd99e2b2c79343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66a3a0f5074231" /><Relationship Type="http://schemas.openxmlformats.org/officeDocument/2006/relationships/notesSlide" Target="/ppt/notesSlides/notesSlide6.xml" Id="R72321d0982ae43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d20d0548ae4188" /><Relationship Type="http://schemas.openxmlformats.org/officeDocument/2006/relationships/notesSlide" Target="/ppt/notesSlides/notesSlide7.xml" Id="Raf4083d4af654f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1d79ec4dbd40fe" /><Relationship Type="http://schemas.openxmlformats.org/officeDocument/2006/relationships/notesSlide" Target="/ppt/notesSlides/notesSlide8.xml" Id="R6faaabb9ff7e40d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0">
            <a:extLst xmlns:a="http://schemas.openxmlformats.org/drawingml/2006/main">
              <a:ext uri="{FF2B5EF4-FFF2-40B4-BE49-F238E27FC236}">
                <a16:creationId xmlns:a16="http://schemas.microsoft.com/office/drawing/2014/main" id="{3DE67346-10C2-4738-AFDF-8259A359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638175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240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Salgspriser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801148A1-4B78-4EF2-AC18-FDEA3096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30 % rabat er medregnet. Alle priser er ekskl. moms.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25C3707C-4D51-4C7C-B15A-06A91659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INTELLI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C5F21D7-AA6F-45C9-AE30-57D0A5AB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444444"/>
                </a:solidFill>
                <a:latin typeface="Arial"/>
                <a:ea typeface="Arial"/>
                <a:cs typeface="Arial"/>
              </a:rPr>
              <a:t>S O L U T I O N S</a:t>
            </a:r>
          </a:p>
        </p:txBody>
      </p:sp>
      <p:sp>
        <p:nvSpPr>
          <p:cNvPr id="5" name="price-box-4">
            <a:extLst xmlns:a="http://schemas.openxmlformats.org/drawingml/2006/main">
              <a:ext uri="{FF2B5EF4-FFF2-40B4-BE49-F238E27FC236}">
                <a16:creationId xmlns:a16="http://schemas.microsoft.com/office/drawing/2014/main" id="{70AE0401-5BBB-40AB-95DB-7B6DAFC1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6" name="price-box-5">
            <a:extLst xmlns:a="http://schemas.openxmlformats.org/drawingml/2006/main">
              <a:ext uri="{FF2B5EF4-FFF2-40B4-BE49-F238E27FC236}">
                <a16:creationId xmlns:a16="http://schemas.microsoft.com/office/drawing/2014/main" id="{E85C712F-4D38-4366-B175-AFB58E5D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257175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666666"/>
            </a:solidFill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2B34C7B2-4C19-4769-99EA-0ED6D844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38425"/>
            <a:ext cx="2114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DIGITAL</a:t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MEDARBEJDER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BA13072F-816D-4868-B5D7-9EC00ED0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2114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4.000,00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E675F250-0009-4ABA-BF9A-0995331E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57700"/>
            <a:ext cx="2114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kr. pr. kanal / måned</a:t>
            </a:r>
          </a:p>
        </p:txBody>
      </p:sp>
      <p:sp>
        <p:nvSpPr>
          <p:cNvPr id="10" name="price-box-9">
            <a:extLst xmlns:a="http://schemas.openxmlformats.org/drawingml/2006/main">
              <a:ext uri="{FF2B5EF4-FFF2-40B4-BE49-F238E27FC236}">
                <a16:creationId xmlns:a16="http://schemas.microsoft.com/office/drawing/2014/main" id="{DD48B4D4-D6CD-417D-AA5B-01B17F24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81250"/>
            <a:ext cx="257175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666666"/>
            </a:solidFill>
          </a:ln>
        </p:spPr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3B7D2350-C157-4CE1-A573-2E89F0D4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38425"/>
            <a:ext cx="2114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AI-TELEFON</a:t>
            </a:r>
          </a:p>
        </p:txBody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B024EA47-6DC6-4D17-AFC0-77FF7F78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486150"/>
            <a:ext cx="2114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1,50</a:t>
            </a:r>
          </a:p>
        </p:txBody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EDEF3CC3-C0D1-459F-9268-56B66A5C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57700"/>
            <a:ext cx="2114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kr. pr. påbegyndt minut</a:t>
            </a:r>
          </a:p>
        </p:txBody>
      </p:sp>
      <p:sp>
        <p:nvSpPr>
          <p:cNvPr id="14" name="price-box-13">
            <a:extLst xmlns:a="http://schemas.openxmlformats.org/drawingml/2006/main">
              <a:ext uri="{FF2B5EF4-FFF2-40B4-BE49-F238E27FC236}">
                <a16:creationId xmlns:a16="http://schemas.microsoft.com/office/drawing/2014/main" id="{16A48798-2146-4277-B473-6B4DACAD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81250"/>
            <a:ext cx="257175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666666"/>
            </a:solidFill>
          </a:ln>
        </p:spPr>
      </p:sp>
      <p:sp>
        <p:nvSpPr>
          <p:cNvPr id="15" name="text-14">
            <a:extLst xmlns:a="http://schemas.openxmlformats.org/drawingml/2006/main">
              <a:ext uri="{FF2B5EF4-FFF2-40B4-BE49-F238E27FC236}">
                <a16:creationId xmlns:a16="http://schemas.microsoft.com/office/drawing/2014/main" id="{50A46065-04AD-420A-BFEC-B021D170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38425"/>
            <a:ext cx="2114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OMSTILLING I DK</a:t>
            </a:r>
          </a:p>
        </p:txBody>
      </p:sp>
      <p:sp>
        <p:nvSpPr>
          <p:cNvPr id="16" name="text-15">
            <a:extLst xmlns:a="http://schemas.openxmlformats.org/drawingml/2006/main">
              <a:ext uri="{FF2B5EF4-FFF2-40B4-BE49-F238E27FC236}">
                <a16:creationId xmlns:a16="http://schemas.microsoft.com/office/drawing/2014/main" id="{36B22A8A-BE1E-4A91-97F3-DDC0B176B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2114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0,50</a:t>
            </a:r>
          </a:p>
        </p:txBody>
      </p:sp>
      <p:sp>
        <p:nvSpPr>
          <p:cNvPr id="17" name="text-16">
            <a:extLst xmlns:a="http://schemas.openxmlformats.org/drawingml/2006/main">
              <a:ext uri="{FF2B5EF4-FFF2-40B4-BE49-F238E27FC236}">
                <a16:creationId xmlns:a16="http://schemas.microsoft.com/office/drawing/2014/main" id="{C22DAF60-549C-4CEE-8490-D05A7E7F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57700"/>
            <a:ext cx="2114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kr. pr. påbegyndt minut</a:t>
            </a:r>
          </a:p>
        </p:txBody>
      </p:sp>
      <p:sp>
        <p:nvSpPr>
          <p:cNvPr id="18" name="price-box-17">
            <a:extLst xmlns:a="http://schemas.openxmlformats.org/drawingml/2006/main">
              <a:ext uri="{FF2B5EF4-FFF2-40B4-BE49-F238E27FC236}">
                <a16:creationId xmlns:a16="http://schemas.microsoft.com/office/drawing/2014/main" id="{90EDEF4A-DAEF-4C6E-B9A9-B3A1BF8C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381250"/>
            <a:ext cx="257175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666666"/>
            </a:solidFill>
          </a:ln>
        </p:spPr>
      </p:sp>
      <p:sp>
        <p:nvSpPr>
          <p:cNvPr id="19" name="text-18">
            <a:extLst xmlns:a="http://schemas.openxmlformats.org/drawingml/2006/main">
              <a:ext uri="{FF2B5EF4-FFF2-40B4-BE49-F238E27FC236}">
                <a16:creationId xmlns:a16="http://schemas.microsoft.com/office/drawing/2014/main" id="{6DF22102-C840-44BB-8A63-533BC1C9E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38425"/>
            <a:ext cx="2114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SMS UD</a:t>
            </a:r>
          </a:p>
        </p:txBody>
      </p:sp>
      <p:sp>
        <p:nvSpPr>
          <p:cNvPr id="20" name="text-19">
            <a:extLst xmlns:a="http://schemas.openxmlformats.org/drawingml/2006/main">
              <a:ext uri="{FF2B5EF4-FFF2-40B4-BE49-F238E27FC236}">
                <a16:creationId xmlns:a16="http://schemas.microsoft.com/office/drawing/2014/main" id="{393C2B8C-BF40-472C-9962-CF92F2453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86150"/>
            <a:ext cx="2114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0,35</a:t>
            </a:r>
          </a:p>
        </p:txBody>
      </p:sp>
      <p:sp>
        <p:nvSpPr>
          <p:cNvPr id="21" name="text-20">
            <a:extLst xmlns:a="http://schemas.openxmlformats.org/drawingml/2006/main">
              <a:ext uri="{FF2B5EF4-FFF2-40B4-BE49-F238E27FC236}">
                <a16:creationId xmlns:a16="http://schemas.microsoft.com/office/drawing/2014/main" id="{32C314D9-7AC9-4930-898D-0F67A2E3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457700"/>
            <a:ext cx="2114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3333"/>
                </a:solidFill>
                <a:latin typeface="Arial"/>
                <a:ea typeface="Arial"/>
                <a:cs typeface="Arial"/>
              </a:rPr>
              <a:t>kr. pr. SMS-segment</a:t>
            </a:r>
          </a:p>
        </p:txBody>
      </p:sp>
    </p:spTree>
    <p:extLst>
      <p:ext uri="{BB962C8B-B14F-4D97-AF65-F5344CB8AC3E}">
        <p14:creationId xmlns:p14="http://schemas.microsoft.com/office/powerpoint/2010/main" val="4479891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9E9C8BEB-0A1E-4991-8FAA-88C93969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Alle minutpriser samlet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C861B35-BA11-456C-AA68-394C475F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Gemini. DKK ekskl. moms. Kost er budget; salg er vores prisforslag.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0861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667250"/>
                <a:gridCol w="2095500"/>
                <a:gridCol w="2095500"/>
                <a:gridCol w="2114550"/>
              </a:tblGrid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Ydelse / samtalelængde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Vores kost / min.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Salgspris / min.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 / min.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AI, første minut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1,50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1,24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AI, 3 min. i gennemsnit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0,41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1,50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1,09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AI, 8 min. i gennemsnit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0,78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1,50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0,72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Omstilling til DK mobil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0,50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0,12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Omstilling til DK fastnet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0,17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0,50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3F7B0C8-AD93-474E-B456-A0457D7AD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Abonnement: 4.000,00 kr. pr. digital medarbejder / måned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E967C291-659E-4211-86B4-DB99BFC4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6737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Maks. 8 min. AI, så betalt omstilling. Ingen inkluderede minutter.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781ACE1F-CD06-4123-8A13-B3F2FAC4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Første minut: AI 0,22 + telefoni 0,04 = 0,26 kr. (inkl. 20 % AI-reserve). DB = salg - kost, før fast drift. Påbegyndte minutter.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AD46C3EB-668C-4186-BEFD-FC93489C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02 / 8</a:t>
            </a:r>
          </a:p>
        </p:txBody>
      </p:sp>
    </p:spTree>
    <p:extLst>
      <p:ext uri="{BB962C8B-B14F-4D97-AF65-F5344CB8AC3E}">
        <p14:creationId xmlns:p14="http://schemas.microsoft.com/office/powerpoint/2010/main" val="13888646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0">
            <a:extLst xmlns:a="http://schemas.openxmlformats.org/drawingml/2006/main">
              <a:ext uri="{FF2B5EF4-FFF2-40B4-BE49-F238E27FC236}">
                <a16:creationId xmlns:a16="http://schemas.microsoft.com/office/drawing/2014/main" id="{3700089B-E3F7-4A73-B6D3-A148C552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AI-kost fra første til sidste minut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EDA0AAB-8E9B-47F7-857D-B9BD7380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Hele AI-fasen: 6,28 kr. for 8 min. Gennemsnit: 0,78 kr./min.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70945DA5-277E-4AB6-BC23-05B6681A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5857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Kost for 8 min. AI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1C11A9C-5C41-46E7-B654-486E8306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676400"/>
            <a:ext cx="4838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Kost minut for minut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2057400"/>
          <a:ext xmlns:a="http://schemas.openxmlformats.org/drawingml/2006/main" cx="5857875" cy="36671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314825"/>
                <a:gridCol w="1543050"/>
              </a:tblGrid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Kostled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Beløb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Ny lyd ind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Lydhistorik læst igen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3,74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AI-stemme ud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Prompt og værktøjer · første gang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Prompt og teksthistorik læst igen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0,53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Tekst / transskription ud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AI-delsum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4,94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Reserve, 20 %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0,99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Telefoni, 8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333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Samlet kost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6,28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753225" y="2057400"/>
          <a:ext xmlns:a="http://schemas.openxmlformats.org/drawingml/2006/main" cx="4829175" cy="3429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990600"/>
                <a:gridCol w="1924050"/>
                <a:gridCol w="1914525"/>
              </a:tblGrid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Dette minut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Indtil nu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0,26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0,41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0,67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0,56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1,23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0,71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1,94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0,86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2,80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1,01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1,16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4,97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 min.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1,31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6,28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1D856517-32AF-4032-AAC6-8E103E6B9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5591175"/>
            <a:ext cx="4829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Indtil nu = summen af minutterne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1A09927D-B50B-41B1-9681-0FB0C0C3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5857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4,94 + 0,99 + 0,35 = 6,28 kr.</a:t>
            </a:r>
          </a:p>
        </p:txBody>
      </p:sp>
      <p:sp>
        <p:nvSpPr>
          <p:cNvPr id="9" name="text-6">
            <a:extLst xmlns:a="http://schemas.openxmlformats.org/drawingml/2006/main">
              <a:ext uri="{FF2B5EF4-FFF2-40B4-BE49-F238E27FC236}">
                <a16:creationId xmlns:a16="http://schemas.microsoft.com/office/drawing/2014/main" id="{619C39D9-F36D-4B63-BAB0-071D0366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Skøn: 3 svar/min., 40 % AI-tale, 4.000 prompttokens og fuld inputstream. Historik genlæses. Beløb beregnes før afrunding.</a:t>
            </a:r>
          </a:p>
        </p:txBody>
      </p:sp>
      <p:sp>
        <p:nvSpPr>
          <p:cNvPr id="10" name="text-7">
            <a:extLst xmlns:a="http://schemas.openxmlformats.org/drawingml/2006/main">
              <a:ext uri="{FF2B5EF4-FFF2-40B4-BE49-F238E27FC236}">
                <a16:creationId xmlns:a16="http://schemas.microsoft.com/office/drawing/2014/main" id="{CDF8FD0F-F031-4609-AEE2-5C23FE4A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03 / 8</a:t>
            </a:r>
          </a:p>
        </p:txBody>
      </p:sp>
    </p:spTree>
    <p:extLst>
      <p:ext uri="{BB962C8B-B14F-4D97-AF65-F5344CB8AC3E}">
        <p14:creationId xmlns:p14="http://schemas.microsoft.com/office/powerpoint/2010/main" val="4533334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577E42FD-09A4-4CDF-AB1D-B160B962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Abonnement og faste udgifter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1516957C-01E8-4FE4-81A6-DEA80382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Abonnement = antal × 4.000,00 kr./md. Én medarbejder = én samtidig samtale, også ved omstilling.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81175"/>
          <a:ext xmlns:a="http://schemas.openxmlformats.org/drawingml/2006/main" cx="10972800" cy="32004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95500"/>
                <a:gridCol w="3333750"/>
                <a:gridCol w="2667000"/>
                <a:gridCol w="2876550"/>
              </a:tblGrid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Medarbejdere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Abonnement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Vores server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Vores kanalleje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388,58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400.000,00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773,51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748B561D-0742-4695-830C-8A577BF51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Nummer 96,75 kr. + supportreserve 500,00 kr. = 596,75 kr. / kunde / md.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6DB2321F-0512-428E-A57F-481FD21F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Kunden får 24/7 og ét nummer; minutter betales separat. Server og kanalleje kommer oveni vores kost.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9D4A109B-4520-409D-B8FF-CBD66ECE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Server regnes én gang pr. installation. Kapacitet er skøn. Særtilbud: 20 for 60.000,00 kr./md. er ikke indregnet her.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5F684191-4A39-452B-B413-2B14660C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04 / 8</a:t>
            </a:r>
          </a:p>
        </p:txBody>
      </p:sp>
    </p:spTree>
    <p:extLst>
      <p:ext uri="{BB962C8B-B14F-4D97-AF65-F5344CB8AC3E}">
        <p14:creationId xmlns:p14="http://schemas.microsoft.com/office/powerpoint/2010/main" val="7212594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0">
            <a:extLst xmlns:a="http://schemas.openxmlformats.org/drawingml/2006/main">
              <a:ext uri="{FF2B5EF4-FFF2-40B4-BE49-F238E27FC236}">
                <a16:creationId xmlns:a16="http://schemas.microsoft.com/office/drawing/2014/main" id="{587326FC-6744-44A2-9D6F-EDFCD4AB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SMS, mail og AI-pakker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F3238C1-2CFE-49F7-AE02-23B392D61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Pakker: 1.000 AI-svar/md. SMS-robot: 1.000 SMS ind + 1.000 ud. SMS afregnes pr. segment.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FD39AE6-C4DB-4F48-868A-25B58300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523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Transport pr. enhed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50576F2-0390-41D2-A2E4-43AF8CFF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85925"/>
            <a:ext cx="5410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AI-pakker ved 1.000 / måned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2076450"/>
          <a:ext xmlns:a="http://schemas.openxmlformats.org/drawingml/2006/main" cx="5238750" cy="27622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09775"/>
                <a:gridCol w="1076325"/>
                <a:gridCol w="1076325"/>
                <a:gridCol w="1076325"/>
              </a:tblGrid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Enhed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 ud, GatewayAPI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 ud, Twilio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0,38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0,45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 ind, Twilio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Mailtransport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72200" y="2076450"/>
          <a:ext xmlns:a="http://schemas.openxmlformats.org/drawingml/2006/main" cx="5410200" cy="27432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781175"/>
                <a:gridCol w="1209675"/>
                <a:gridCol w="1209675"/>
                <a:gridCol w="1209675"/>
              </a:tblGrid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Pakke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Indtægt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Mail-robot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75,47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299,00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223,53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Webchat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159,64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499,00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339,36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SMS-robot inkl. transport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472,79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909,00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436,21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679A7A42-4619-42C8-9A98-003D9CD8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SMS-robot: sådan bliver månedsbeløbet til</a:t>
            </a:r>
          </a:p>
        </p:txBody>
      </p:sp>
      <p:sp>
        <p:nvSpPr>
          <p:cNvPr id="8" name="text-5">
            <a:extLst xmlns:a="http://schemas.openxmlformats.org/drawingml/2006/main">
              <a:ext uri="{FF2B5EF4-FFF2-40B4-BE49-F238E27FC236}">
                <a16:creationId xmlns:a16="http://schemas.microsoft.com/office/drawing/2014/main" id="{C99A1830-DFC8-4CA5-B69F-5A03BB56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Salg: 299,00 abonnement + 100,00 AI + 60,00 SMS ind + 450,00 SMS ud = 909,00 kr.</a:t>
            </a:r>
          </a:p>
          <a:p xmlns:a="http://schemas.openxmlformats.org/drawingml/2006/main">
            <a:pPr algn="l">
              <a:defRPr sz="150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Kost: 42,57 AI + 48,38 SMS ind + 381,84 SMS ud = 472,79 kr.</a:t>
            </a:r>
          </a:p>
        </p:txBody>
      </p:sp>
      <p:sp>
        <p:nvSpPr>
          <p:cNvPr id="9" name="text-6">
            <a:extLst xmlns:a="http://schemas.openxmlformats.org/drawingml/2006/main">
              <a:ext uri="{FF2B5EF4-FFF2-40B4-BE49-F238E27FC236}">
                <a16:creationId xmlns:a16="http://schemas.microsoft.com/office/drawing/2014/main" id="{62D7D837-D73C-4E64-8217-ACBA2A6F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Kost summeres før afrunding. Ekstra AI-mail: 0,15 kr./behandling; webchat: 0,25 kr./svar. Pakkerne er tillæg til telefoni.</a:t>
            </a:r>
          </a:p>
        </p:txBody>
      </p:sp>
      <p:sp>
        <p:nvSpPr>
          <p:cNvPr id="10" name="text-7">
            <a:extLst xmlns:a="http://schemas.openxmlformats.org/drawingml/2006/main">
              <a:ext uri="{FF2B5EF4-FFF2-40B4-BE49-F238E27FC236}">
                <a16:creationId xmlns:a16="http://schemas.microsoft.com/office/drawing/2014/main" id="{B5E352C6-CC65-45A6-8730-DB3C15AC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05 / 8</a:t>
            </a:r>
          </a:p>
        </p:txBody>
      </p:sp>
    </p:spTree>
    <p:extLst>
      <p:ext uri="{BB962C8B-B14F-4D97-AF65-F5344CB8AC3E}">
        <p14:creationId xmlns:p14="http://schemas.microsoft.com/office/powerpoint/2010/main" val="18586482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0">
            <a:extLst xmlns:a="http://schemas.openxmlformats.org/drawingml/2006/main">
              <a:ext uri="{FF2B5EF4-FFF2-40B4-BE49-F238E27FC236}">
                <a16:creationId xmlns:a16="http://schemas.microsoft.com/office/drawing/2014/main" id="{7888FD9A-79A7-4C0F-8743-AEE0F9D4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Ét opkald og vores månedsregnskab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20EB39B1-CF59-436D-AE51-080A9B39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3 medarbejdere. 1.000 opkald/md. Alle får 8 min. AI + 10 min. omstilling til DK mobil.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BF4CA183-B0D3-43BA-BDE2-73B187F8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5762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Ét opkald: 8 min. AI + 10 min. mobil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E3F5DDC-866A-43C9-9631-5AA7E8B05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1666875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Vores regnskab / måned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5781675" cy="18669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05050"/>
                <a:gridCol w="1162050"/>
                <a:gridCol w="1162050"/>
                <a:gridCol w="1152525"/>
              </a:tblGrid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Fase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AI, 8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6,28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5,72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Mobil, 10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6672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Opkald i alt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10,09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17,00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6,91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4614B381-85D1-4ECC-81EB-8F5B1184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5772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Andre opkald med længere omstilling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4572000"/>
          <a:ext xmlns:a="http://schemas.openxmlformats.org/drawingml/2006/main" cx="5781675" cy="12287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05050"/>
                <a:gridCol w="1162050"/>
                <a:gridCol w="1162050"/>
                <a:gridCol w="1152525"/>
              </a:tblGrid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AI + menneske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Salg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 + 30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17,71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27,00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9,29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8 + 60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29,15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42,00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7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12,85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"/>
          <p:cNvGraphicFramePr/>
          <p:nvPr/>
        </p:nvGraphicFramePr>
        <p:xfrm>
          <a:off xmlns:a="http://schemas.openxmlformats.org/drawingml/2006/main" x="6734175" y="2047875"/>
          <a:ext xmlns:a="http://schemas.openxmlformats.org/drawingml/2006/main" cx="4848225" cy="3429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990850"/>
                <a:gridCol w="1857375"/>
              </a:tblGrid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Pr. måned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Abonnement (3 stk.)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AI (8.000 min.)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+ Omstilling (10.000 min.)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Indtægt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29.000,00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- Opkald og nummer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10.184,81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Dækningsbidrag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18.815,19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- Server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74,60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- Supportreserve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= Resultat før skat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18.240,59 kr.</a:t>
                      </a:r>
                    </a:p>
                  </a:txBody>
                  <a:tcPr marL="91440" marR="91440" marT="45720" marB="45720" anchor="ctr">
                    <a:solidFill>
                      <a:srgbClr val="EAF4F1"/>
                    </a:solidFill>
                  </a:tcPr>
                </a:tc>
              </a:tr>
            </a:tbl>
          </a:graphicData>
        </a:graphic>
      </p:graphicFrame>
      <p:sp>
        <p:nvSpPr>
          <p:cNvPr id="9" name="text-5">
            <a:extLst xmlns:a="http://schemas.openxmlformats.org/drawingml/2006/main">
              <a:ext uri="{FF2B5EF4-FFF2-40B4-BE49-F238E27FC236}">
                <a16:creationId xmlns:a16="http://schemas.microsoft.com/office/drawing/2014/main" id="{A70381C8-0B57-417E-9D36-854917DD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5534025"/>
            <a:ext cx="4848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8756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563"/>
                </a:solidFill>
                <a:latin typeface="Arial"/>
                <a:ea typeface="Arial"/>
                <a:cs typeface="Arial"/>
              </a:rPr>
              <a:t>Dækningsgrad: 64,9 %</a:t>
            </a:r>
          </a:p>
        </p:txBody>
      </p:sp>
      <p:sp>
        <p:nvSpPr>
          <p:cNvPr id="10" name="text-6">
            <a:extLst xmlns:a="http://schemas.openxmlformats.org/drawingml/2006/main">
              <a:ext uri="{FF2B5EF4-FFF2-40B4-BE49-F238E27FC236}">
                <a16:creationId xmlns:a16="http://schemas.microsoft.com/office/drawing/2014/main" id="{45A09066-48B5-422B-8E23-747EE31E8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Kost = AI 6.276,11 + omstilling 3.811,95 + nummer 96,75 = 10.184,81 kr.</a:t>
            </a:r>
          </a:p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Månedstotaler beregnes før afrunding. Ingen SMS, partner eller gebyr.</a:t>
            </a:r>
          </a:p>
        </p:txBody>
      </p:sp>
      <p:sp>
        <p:nvSpPr>
          <p:cNvPr id="11" name="text-7">
            <a:extLst xmlns:a="http://schemas.openxmlformats.org/drawingml/2006/main">
              <a:ext uri="{FF2B5EF4-FFF2-40B4-BE49-F238E27FC236}">
                <a16:creationId xmlns:a16="http://schemas.microsoft.com/office/drawing/2014/main" id="{6FDD121E-A389-4F6C-8D93-361D155A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06 / 8</a:t>
            </a:r>
          </a:p>
        </p:txBody>
      </p:sp>
    </p:spTree>
    <p:extLst>
      <p:ext uri="{BB962C8B-B14F-4D97-AF65-F5344CB8AC3E}">
        <p14:creationId xmlns:p14="http://schemas.microsoft.com/office/powerpoint/2010/main" val="15006577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D35D8F36-3F6D-4AE6-BE69-D7BE862ED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Kundestørrelser og partnerprovision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82A3C9E5-F680-4CBB-B96C-60DEEBF4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Alle opkald: 8 min. AI + 10 min. DK mobil. Hver række er én separat kundecase.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24025"/>
          <a:ext xmlns:a="http://schemas.openxmlformats.org/drawingml/2006/main" cx="10972800" cy="20478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514600"/>
                <a:gridCol w="2114550"/>
                <a:gridCol w="2114550"/>
                <a:gridCol w="2114550"/>
                <a:gridCol w="2114550"/>
              </a:tblGrid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Medarbejdere / opkald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Indtægt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Direkte kost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 / 500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12.500,00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5.140,78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7.359,22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6.784,62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 / 1.000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29.000,00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10.184,81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18.815,19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18.240,59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 / 2.000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46.000,00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20.272,87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25.727,13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25.152,53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09575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 / 10.000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250.000,00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100.977,33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149.022,67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65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148.448,07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8607585-57B0-4A35-98E8-C5C2061E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Partner: 0-30 % af abonnementet på 12.000,00 kr./md. Samme kunde med 1.000 opkald.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4362450"/>
          <a:ext xmlns:a="http://schemas.openxmlformats.org/drawingml/2006/main" cx="10972800" cy="16192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790950"/>
                <a:gridCol w="2381250"/>
                <a:gridCol w="2381250"/>
                <a:gridCol w="2419350"/>
              </a:tblGrid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Provision af abonnement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Til partner / md.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DB efter partner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3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Resultat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18.815,19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18.240,59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1.200,00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17.615,19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17.040,59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2.400,00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16.415,19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15.840,59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30 %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3.600,00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15.215,19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r"/>
                      <a:r>
                        <a:rPr sz="1500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14.640,59 kr.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3">
            <a:extLst xmlns:a="http://schemas.openxmlformats.org/drawingml/2006/main">
              <a:ext uri="{FF2B5EF4-FFF2-40B4-BE49-F238E27FC236}">
                <a16:creationId xmlns:a16="http://schemas.microsoft.com/office/drawing/2014/main" id="{D9125FDF-CD0B-4515-BABF-61FC0D3C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Resultat = DB - server 74,60 kr. - supportreserve 500,00 kr. Ingen SMS, gebyr eller ejerløn. Partnerprovision er ikke aftalt.</a:t>
            </a:r>
          </a:p>
        </p:txBody>
      </p:sp>
      <p:sp>
        <p:nvSpPr>
          <p:cNvPr id="7" name="text-4">
            <a:extLst xmlns:a="http://schemas.openxmlformats.org/drawingml/2006/main">
              <a:ext uri="{FF2B5EF4-FFF2-40B4-BE49-F238E27FC236}">
                <a16:creationId xmlns:a16="http://schemas.microsoft.com/office/drawing/2014/main" id="{D1562358-C3C1-46A7-BAFD-E69D57DB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07 / 8</a:t>
            </a:r>
          </a:p>
        </p:txBody>
      </p:sp>
    </p:spTree>
    <p:extLst>
      <p:ext uri="{BB962C8B-B14F-4D97-AF65-F5344CB8AC3E}">
        <p14:creationId xmlns:p14="http://schemas.microsoft.com/office/powerpoint/2010/main" val="15073271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876937D0-E672-4F12-A4B9-2B154E93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Forudsætninger for priserne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1275F69A-94F3-4D86-B793-D6AC8EA5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Budget pr. 10. september 2026. Krav før salg med fast pris.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71650"/>
          <a:ext xmlns:a="http://schemas.openxmlformats.org/drawingml/2006/main" cx="10972800" cy="32004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552700"/>
                <a:gridCol w="8420100"/>
              </a:tblGrid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Emne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Forudsætning</a:t>
                      </a:r>
                    </a:p>
                  </a:txBody>
                  <a:tcPr marL="91440" marR="91440" marT="45720" marB="45720" anchor="ctr">
                    <a:solidFill>
                      <a:srgbClr val="173745"/>
                    </a:solidFill>
                  </a:tcPr>
                </a:tc>
              </a:tr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AI-kost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Skøn med 20 % reserve. Faktisk forbrug skal måles.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Fastprisbeskyttelse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Implementér omstilling efter 8 min., faseafregning og tokenbaseret koststop. Kodens timeout er 10 min.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Vertex AI og EU/EØS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23825" tIns="47625" rIns="123825" bIns="47625"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73745"/>
                          </a:solidFill>
                          <a:latin typeface="Arial"/>
                          <a:ea typeface="Arial"/>
                          <a:cs typeface="Arial"/>
                        </a:rPr>
                        <a:t>Mål: flersproget Gemini 3.1 Flash Live på Vertex. Tilgængelighed, pris, EU-region og datakæde skal bekræftes.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8A29FC77-EB35-4F46-970B-42E6B173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745"/>
                </a:solidFill>
                <a:latin typeface="Arial"/>
                <a:ea typeface="Arial"/>
                <a:cs typeface="Arial"/>
              </a:rPr>
              <a:t>Stresstest: 6 svar/min., 60 % AI-tale og 8 min. AI.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D539B9FB-CD7D-443A-BB44-1AD106182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374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3745"/>
                </a:solidFill>
                <a:latin typeface="Arial"/>
                <a:ea typeface="Arial"/>
                <a:cs typeface="Arial"/>
              </a:rPr>
              <a:t>Salg 1,50 kr. - kost 1,64 kr. = tab 0,14 kr./min. Fast pris kræver et koststop.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30B894B7-269B-4357-930C-9E4421D23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Kilder: badlegion.github.io/intelli-prisark/GRUNDLAG.md. Opstart, integrationer, SLA og udvikling er ikke prissat.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A8834A13-F84A-48F1-ADBB-B11E94EA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86525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86F7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86F7B"/>
                </a:solidFill>
                <a:latin typeface="Arial"/>
                <a:ea typeface="Arial"/>
                <a:cs typeface="Arial"/>
              </a:rPr>
              <a:t>08 / 8</a:t>
            </a:r>
          </a:p>
        </p:txBody>
      </p:sp>
    </p:spTree>
    <p:extLst>
      <p:ext uri="{BB962C8B-B14F-4D97-AF65-F5344CB8AC3E}">
        <p14:creationId xmlns:p14="http://schemas.microsoft.com/office/powerpoint/2010/main" val="7408018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2026-09-10T15:24:39.3840000Z</dcterms:created>
  <dcterms:modified xsi:type="dcterms:W3CDTF">2026-09-10T15:24:39.3840000Z</dcterms:modified>
</coreProperties>
</file>