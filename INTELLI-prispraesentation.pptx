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1676fa76714971" /><Relationship Type="http://schemas.openxmlformats.org/officeDocument/2006/relationships/extended-properties" Target="/docProps/app.xml" Id="Ra860d4c3d4c94d5e" /><Relationship Type="http://schemas.openxmlformats.org/officeDocument/2006/relationships/officeDocument" Target="/ppt/presentation.xml" Id="R0c8ed9c85d2a4b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d7ada5152e4515"/>
  </p:sldMasterIdLst>
  <p:notesMasterIdLst>
    <p:notesMasterId xmlns:r="http://schemas.openxmlformats.org/officeDocument/2006/relationships" r:id="R1d48dfa83f4b4d0c"/>
  </p:notesMasterIdLst>
  <p:sldIdLst>
    <p:sldId xmlns:r="http://schemas.openxmlformats.org/officeDocument/2006/relationships" id="256" r:id="R6e0fb86974c24b56"/>
    <p:sldId xmlns:r="http://schemas.openxmlformats.org/officeDocument/2006/relationships" id="257" r:id="R14910541b5214c82"/>
    <p:sldId xmlns:r="http://schemas.openxmlformats.org/officeDocument/2006/relationships" id="258" r:id="R42dabc04472e4d5b"/>
    <p:sldId xmlns:r="http://schemas.openxmlformats.org/officeDocument/2006/relationships" id="259" r:id="R5a088be0462d494a"/>
    <p:sldId xmlns:r="http://schemas.openxmlformats.org/officeDocument/2006/relationships" id="260" r:id="R101c42ff079f40c1"/>
    <p:sldId xmlns:r="http://schemas.openxmlformats.org/officeDocument/2006/relationships" id="261" r:id="Rcd9f3ef3bfe941d5"/>
    <p:sldId xmlns:r="http://schemas.openxmlformats.org/officeDocument/2006/relationships" id="262" r:id="Rf9026ff5868443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8545534fea4800" /><Relationship Type="http://schemas.openxmlformats.org/officeDocument/2006/relationships/slideMaster" Target="/ppt/slideMasters/slideMaster1.xml" Id="Re6d7ada5152e4515" /><Relationship Type="http://schemas.openxmlformats.org/officeDocument/2006/relationships/notesMaster" Target="/ppt/notesMasters/notesMaster1.xml" Id="R1d48dfa83f4b4d0c" /><Relationship Type="http://schemas.openxmlformats.org/officeDocument/2006/relationships/presProps" Target="/ppt/presProps.xml" Id="R34aae0588ba04310" /><Relationship Type="http://schemas.openxmlformats.org/officeDocument/2006/relationships/tableStyles" Target="/ppt/tableStyles.xml" Id="R1eb62771d326409e" /><Relationship Type="http://schemas.openxmlformats.org/officeDocument/2006/relationships/slide" Target="/ppt/slides/slide1.xml" Id="R6e0fb86974c24b56" /><Relationship Type="http://schemas.openxmlformats.org/officeDocument/2006/relationships/slide" Target="/ppt/slides/slide2.xml" Id="R14910541b5214c82" /><Relationship Type="http://schemas.openxmlformats.org/officeDocument/2006/relationships/slide" Target="/ppt/slides/slide3.xml" Id="R42dabc04472e4d5b" /><Relationship Type="http://schemas.openxmlformats.org/officeDocument/2006/relationships/slide" Target="/ppt/slides/slide4.xml" Id="R5a088be0462d494a" /><Relationship Type="http://schemas.openxmlformats.org/officeDocument/2006/relationships/slide" Target="/ppt/slides/slide5.xml" Id="R101c42ff079f40c1" /><Relationship Type="http://schemas.openxmlformats.org/officeDocument/2006/relationships/slide" Target="/ppt/slides/slide6.xml" Id="Rcd9f3ef3bfe941d5" /><Relationship Type="http://schemas.openxmlformats.org/officeDocument/2006/relationships/slide" Target="/ppt/slides/slide7.xml" Id="Rf9026ff5868443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147e614e544e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b0f66f29ba4673" /><Relationship Type="http://schemas.openxmlformats.org/officeDocument/2006/relationships/notesMaster" Target="/ppt/notesMasters/notesMaster1.xml" Id="R182823bd956942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831b6cb55447f6" /><Relationship Type="http://schemas.openxmlformats.org/officeDocument/2006/relationships/notesMaster" Target="/ppt/notesMasters/notesMaster1.xml" Id="Re31d31784bd745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512c2761904d9d" /><Relationship Type="http://schemas.openxmlformats.org/officeDocument/2006/relationships/notesMaster" Target="/ppt/notesMasters/notesMaster1.xml" Id="R7f6e6b35b8314d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7a53b572d24bfe" /><Relationship Type="http://schemas.openxmlformats.org/officeDocument/2006/relationships/notesMaster" Target="/ppt/notesMasters/notesMaster1.xml" Id="R6dde75310a184a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61a3b5bc9340ca" /><Relationship Type="http://schemas.openxmlformats.org/officeDocument/2006/relationships/notesMaster" Target="/ppt/notesMasters/notesMaster1.xml" Id="Reb9a197d2f3b4a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589a483b3f4902" /><Relationship Type="http://schemas.openxmlformats.org/officeDocument/2006/relationships/notesMaster" Target="/ppt/notesMasters/notesMaster1.xml" Id="R90385be69f9945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daf142ecae44d7" /><Relationship Type="http://schemas.openxmlformats.org/officeDocument/2006/relationships/notesMaster" Target="/ppt/notesMasters/notesMaster1.xml" Id="Rcfeb1f87f0174f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AI-kost er inkl. 20 % reserve og indgående telefoni. Første minut: AI 0,22 kr. + SIP 0,04 kr. Hver fase afregnes pr. påbegyndt minut.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Samme budgetprofil: 3 svar/min., 40 % AI-tale, 4.000 prompttokens, fuldt streamet input og genlæst historik. 20 % reserve. Alle beregninger bruger uafrundede beløb.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Server pr. installation. Kapacitet er et skøn og skal testes. Særtilbud i prisnoterne: 20 for 60.000,00 kr./md. (ikke indregnet i tabellen).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SMS-robot: 299,00 kr./md. + 0,10 kr./AI-svar + SMS ind/ud. Eksemplet inkluderer 1.000 indgående og 1.000 udgående Twilio-segmenter. Pakkerne er separate fra telefoncases.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https://gatewayapi.com/pricing/</a:t>
            </a:r>
          </a:p>
          <a:p xmlns:a="http://schemas.openxmlformats.org/drawingml/2006/main">
            <a:r>
              <a:t>https://www.twilio.com/en-us/sms/pricing/dk</a:t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Månedsindtægt: 12.000,00 kr. abonnement + 12.000,00 kr. AI + 4.900,00 kr. omstilling. Ingen SMS, partner eller gebyr. Resultat før skat er efter de viste budgetudgifter.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Scenarier: ingen SMS, gebyr eller ejerløn. Resultat er efter server 74,60 kr. og support 500,00 kr. i hvert selvstændigt scenarie. Partnerprovision er endnu ikke aftalt.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Regnegrundlag og kilder: badlegion.github.io/intelli-prisark/gemini.html. Opstart, særlige integrationer, SLA, udvikling og ikke-oplyst arbejde er ikke prissat.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https://cloud.google.com/vertex-ai/generative-ai/pricing</a:t>
            </a:r>
          </a:p>
          <a:p xmlns:a="http://schemas.openxmlformats.org/drawingml/2006/main">
            <a:r>
              <a:t>https://ai.google.dev/gemini-api/docs/live-api/capabilities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d1c046b5f441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986b918c244588" /><Relationship Type="http://schemas.openxmlformats.org/officeDocument/2006/relationships/slideLayout" Target="/ppt/slideLayouts/slideLayout1.xml" Id="R8f73cd9b09c040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73cd9b09c040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daeee37fb8489e" /><Relationship Type="http://schemas.openxmlformats.org/officeDocument/2006/relationships/notesSlide" Target="/ppt/notesSlides/notesSlide1.xml" Id="R1830104f2f7d42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3c5e0ac8c49df" /><Relationship Type="http://schemas.openxmlformats.org/officeDocument/2006/relationships/notesSlide" Target="/ppt/notesSlides/notesSlide2.xml" Id="Ra060efb9c8ae4f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1bc9c48b94ce3" /><Relationship Type="http://schemas.openxmlformats.org/officeDocument/2006/relationships/notesSlide" Target="/ppt/notesSlides/notesSlide3.xml" Id="Ra8461693d2fc4f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79ccbf4e6d4e57" /><Relationship Type="http://schemas.openxmlformats.org/officeDocument/2006/relationships/notesSlide" Target="/ppt/notesSlides/notesSlide4.xml" Id="Ra4a16aad5c8241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f6abbfe56484d" /><Relationship Type="http://schemas.openxmlformats.org/officeDocument/2006/relationships/notesSlide" Target="/ppt/notesSlides/notesSlide5.xml" Id="R774226e9df4942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d23d8ee654906" /><Relationship Type="http://schemas.openxmlformats.org/officeDocument/2006/relationships/notesSlide" Target="/ppt/notesSlides/notesSlide6.xml" Id="R983892df098741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e3977f30d4cc2" /><Relationship Type="http://schemas.openxmlformats.org/officeDocument/2006/relationships/notesSlide" Target="/ppt/notesSlides/notesSlide7.xml" Id="R9766fb21f28f44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A1814253-FBC7-4319-ACEB-5783086C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Alle minutpriser samlet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A94C800-8F3A-4811-BE79-93958D46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Gemini. DKK ekskl. moms. Foreløbigt kostbudget og faste salgsforslag.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0861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667250"/>
                <a:gridCol w="2095500"/>
                <a:gridCol w="2095500"/>
                <a:gridCol w="2114550"/>
              </a:tblGrid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Ydelse / samtalelængde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kost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Salgspris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første minut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1,24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3 min. i gennemsnit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8 min. i gennemsnit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 til DK mobil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 til DK fastnet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F6AD6EC1-6247-470A-A4C0-0DFF0556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Abonnement: 4.000,00 kr. pr. digital medarbejder / måned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B8AEA6C8-FF58-4C2D-B358-6F5F63E5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Højst 8 min. AI, derefter betalt omstilling. Ingen inkluderede minutter.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9B540B75-8315-4E0D-B001-8AE2067E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AI-kost er inkl. 20 % reserve og indgående telefoni. Første minut: AI 0,22 kr. + SIP 0,04 kr. Hver fase afregnes pr. påbegyndt minut.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186EFC9C-8476-45C4-8D13-32D29D6A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01 / 7</a:t>
            </a:r>
          </a:p>
        </p:txBody>
      </p:sp>
    </p:spTree>
    <p:extLst>
      <p:ext uri="{BB962C8B-B14F-4D97-AF65-F5344CB8AC3E}">
        <p14:creationId xmlns:p14="http://schemas.microsoft.com/office/powerpoint/2010/main" val="1743621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C5738E2-26FE-4221-B148-5FABF293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AI-kost og udvikling under samtalen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A41E0E5-DBDE-449B-A1EF-6C4B90B4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8 minutter koster 6,28 kr. i alt. Gennemsnittet er 0,78 kr./min.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BCA69BB-21C2-48F5-81BF-03C970A8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85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 for hele AI-fasen på 8 min.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AB38AED-F427-46BC-AC2F-55698CA0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676400"/>
            <a:ext cx="4838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Stigning i samme samtale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5857875" cy="3667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314825"/>
                <a:gridCol w="1543050"/>
              </a:tblGrid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Kostled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Beløb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Ny lyd ind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Lydhistorik læst igen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3,74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AI-stemme ud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Prompt og værktøjer · første gang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Prompt og teksthistorik læst igen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Tekst / transskription ud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 før reserve (delsum)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AI-reserve, 20 %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0,99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Indgående SIP, 8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Samlet kost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"/>
          <p:cNvGraphicFramePr/>
          <p:nvPr/>
        </p:nvGraphicFramePr>
        <p:xfrm>
          <a:off xmlns:a="http://schemas.openxmlformats.org/drawingml/2006/main" x="6753225" y="2057400"/>
          <a:ext xmlns:a="http://schemas.openxmlformats.org/drawingml/2006/main" cx="482917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990600"/>
                <a:gridCol w="1924050"/>
                <a:gridCol w="1914525"/>
              </a:tblGrid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Seneste minut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 i alt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0,67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1,23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1,94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0,86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2,80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1,16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min.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1,31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09E38D2C-8431-4C6F-9234-DF9475EC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Samme budgetprofil: 3 svar/min., 40 % AI-tale, 4.000 prompttokens, fuldt streamet input og genlæst historik. 20 % reserve. Alle beregninger bruger uafrundede beløb.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D238E72D-B98E-45F0-93AC-9D06EAD6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02 / 7</a:t>
            </a:r>
          </a:p>
        </p:txBody>
      </p:sp>
    </p:spTree>
    <p:extLst>
      <p:ext uri="{BB962C8B-B14F-4D97-AF65-F5344CB8AC3E}">
        <p14:creationId xmlns:p14="http://schemas.microsoft.com/office/powerpoint/2010/main" val="12701732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1E4C742B-0210-4263-B395-DEF5B01F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Digitale medarbejdere og fast drift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5192F97-680A-4E7F-98D9-D29EE83B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Én digital medarbejder giver plads til én samtidig kundesamtale, også under omstilling.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81175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3333750"/>
                <a:gridCol w="2667000"/>
                <a:gridCol w="2876550"/>
              </a:tblGrid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Medarbejdere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Kundens abonnement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server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kanalleje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388,58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400.000,00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773,51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ED1205F4-F315-4902-BEE5-B4DADB22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Pr. kunde: mobilnummer 96,75 kr. / md. + supportreserve 500,00 kr. / md.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F5738C2-E59A-43D6-A031-A4492FB1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Ét nummer er inkluderet i abonnementet. 24/7-tilgængelighed. Minutter betales separat.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7AB02DB7-07B4-4978-BD40-9E238DAF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Server pr. installation. Kapacitet er et skøn og skal testes. Særtilbud i prisnoterne: 20 for 60.000,00 kr./md. (ikke indregnet i tabellen).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25D81EDC-B27C-455E-9723-37645393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03 / 7</a:t>
            </a:r>
          </a:p>
        </p:txBody>
      </p:sp>
    </p:spTree>
    <p:extLst>
      <p:ext uri="{BB962C8B-B14F-4D97-AF65-F5344CB8AC3E}">
        <p14:creationId xmlns:p14="http://schemas.microsoft.com/office/powerpoint/2010/main" val="16871532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12A0B964-5802-48F5-A603-A5E13870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SMS, mail og AI-pakker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1B8FD38-02DD-4011-9AFB-E6E33B3C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Transport afregnes pr. segment eller mail. Pakkeeksemplerne gælder 1.000 AI-behandlinger/svar.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0BA39600-3471-4FC6-97BD-2570F82A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Transport pr. enhed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074D570-5C47-43DB-BF51-E6609AED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85925"/>
            <a:ext cx="541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AI-pakker ved 1.000 / måned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09775"/>
                <a:gridCol w="1076325"/>
                <a:gridCol w="1076325"/>
                <a:gridCol w="1076325"/>
              </a:tblGrid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Enhed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ud, GatewayAPI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ud, Twilio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ind, Twilio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Mailtransport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72200" y="2076450"/>
          <a:ext xmlns:a="http://schemas.openxmlformats.org/drawingml/2006/main" cx="5410200" cy="27432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81175"/>
                <a:gridCol w="1209675"/>
                <a:gridCol w="1209675"/>
                <a:gridCol w="1209675"/>
              </a:tblGrid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Pakke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Mail-robot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75,47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223,53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Webchat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159,64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499,00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339,36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SMS-robot inkl. transport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472,79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909,00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436,21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F71EF64-15E6-45BB-8D9B-1344614C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Mailtransport: 0,00 kr. ekstra i jeres opsætning.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483A4F18-F556-4580-AC52-E2B14012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Ekstra AI-mail: 0,15 kr./behandling. Ekstra webchat: 0,25 kr./svar. DB før fælles drift.</a:t>
            </a:r>
          </a:p>
        </p:txBody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9077B65A-031F-46E7-B2DE-5C93640E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SMS-robot: 299,00 kr./md. + 0,10 kr./AI-svar + SMS ind/ud. Eksemplet inkluderer 1.000 indgående og 1.000 udgående Twilio-segmenter. Pakkerne er separate fra telefoncases.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3C5213B5-A4A8-45AB-BAC9-C394AF1D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04 / 7</a:t>
            </a:r>
          </a:p>
        </p:txBody>
      </p:sp>
    </p:spTree>
    <p:extLst>
      <p:ext uri="{BB962C8B-B14F-4D97-AF65-F5344CB8AC3E}">
        <p14:creationId xmlns:p14="http://schemas.microsoft.com/office/powerpoint/2010/main" val="6502832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AA2B8C19-D484-4126-8DCD-B9DC6A35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Fra ét opkald til en kundes månedsresultat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C4D7A07-DC83-48D7-9166-9D79B128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Månedseksempel: 3 medarbejdere, 1.000 opkald. Alle får 8 min. AI + 10 min. DK mobilomstilling.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D8DFC92-420D-4520-A91F-2879F802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76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Ét opkald: 8 min. AI + 10 min. mobil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7D9398D-2508-427E-A387-2B4ABD85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16668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Kundens månedsregnskab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5781675" cy="18669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5050"/>
                <a:gridCol w="1162050"/>
                <a:gridCol w="1162050"/>
                <a:gridCol w="1152525"/>
              </a:tblGrid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Fase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8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5,72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Omstilling, 10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Opkald i alt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10,09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16,90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6,81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AFBA6BB-AC91-4CB0-9209-F3B286B8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577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Hvis menneskefasen varer længere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4572000"/>
          <a:ext xmlns:a="http://schemas.openxmlformats.org/drawingml/2006/main" cx="5781675" cy="12287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5050"/>
                <a:gridCol w="1162050"/>
                <a:gridCol w="1162050"/>
                <a:gridCol w="1152525"/>
              </a:tblGrid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AI + menneske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+ 30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17,71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26,70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8,99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+ 60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29,15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41,40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12,25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734175" y="2047875"/>
          <a:ext xmlns:a="http://schemas.openxmlformats.org/drawingml/2006/main" cx="4848225" cy="32670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990850"/>
                <a:gridCol w="1857375"/>
              </a:tblGrid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Pr. måned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28.900,00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Minus direkte kost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10.184,81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Dækningsbidrag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Minus server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Minus supportreserve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Resultat før skat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9" name="text-5">
            <a:extLst xmlns:a="http://schemas.openxmlformats.org/drawingml/2006/main">
              <a:ext uri="{FF2B5EF4-FFF2-40B4-BE49-F238E27FC236}">
                <a16:creationId xmlns:a16="http://schemas.microsoft.com/office/drawing/2014/main" id="{0EEDF52D-8DE9-423E-BC7C-85180A06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5534025"/>
            <a:ext cx="4848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756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563"/>
                </a:solidFill>
                <a:latin typeface="Arial"/>
                <a:ea typeface="Arial"/>
                <a:cs typeface="Arial"/>
              </a:rPr>
              <a:t>Dækningsgrad: 64,8 %</a:t>
            </a:r>
          </a:p>
        </p:txBody>
      </p:sp>
      <p:sp>
        <p:nvSpPr>
          <p:cNvPr id="10" name="text-6">
            <a:extLst xmlns:a="http://schemas.openxmlformats.org/drawingml/2006/main">
              <a:ext uri="{FF2B5EF4-FFF2-40B4-BE49-F238E27FC236}">
                <a16:creationId xmlns:a16="http://schemas.microsoft.com/office/drawing/2014/main" id="{41B0E2AB-7AEB-435C-886D-70FBBBBE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Månedsindtægt: 12.000,00 kr. abonnement + 12.000,00 kr. AI + 4.900,00 kr. omstilling. Ingen SMS, partner eller gebyr. Resultat før skat er efter de viste budgetudgifter.</a:t>
            </a:r>
          </a:p>
        </p:txBody>
      </p:sp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ACD45954-BADD-4E4E-BDCC-A8469B0F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05 / 7</a:t>
            </a:r>
          </a:p>
        </p:txBody>
      </p:sp>
    </p:spTree>
    <p:extLst>
      <p:ext uri="{BB962C8B-B14F-4D97-AF65-F5344CB8AC3E}">
        <p14:creationId xmlns:p14="http://schemas.microsoft.com/office/powerpoint/2010/main" val="18057375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4EAB44B4-EAE0-4457-B8F0-E9DDE7A3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Kundestørrelser og partnerprovision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3BDA6A4-699E-4550-9EA1-7AF85C6B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Alle telefoncases: 8 min. AI + 10 min. DK mobilomstilling pr. opkald. 100 % stilles videre.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20478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14600"/>
                <a:gridCol w="2114550"/>
                <a:gridCol w="2114550"/>
                <a:gridCol w="2114550"/>
                <a:gridCol w="2114550"/>
              </a:tblGrid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Medarbejdere / opkald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Direkte 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 / 500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12.450,00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5.140,78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7.309,22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6.734,62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/ 1.000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28.900,00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10.184,81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/ 2.000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45.800,00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20.272,87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25.527,13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24.952,53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 / 10.000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249.000,00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100.977,33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148.022,67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147.448,07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DCAD3A6E-84FD-4BDE-9607-AEF606D5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Partner, samme kunde med 3 medarbejdere og 1.000 opkald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4362450"/>
          <a:ext xmlns:a="http://schemas.openxmlformats.org/drawingml/2006/main" cx="10972800" cy="1619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790950"/>
                <a:gridCol w="2381250"/>
                <a:gridCol w="2381250"/>
                <a:gridCol w="2419350"/>
              </a:tblGrid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Provision af abonnement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Til partner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resultat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18.715,19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18.140,59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1.200,00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17.515,19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16.940,59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2.400,00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16.315,19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15.740,59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3.600,00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15.115,19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14.540,59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6803AD6A-FECE-451C-905A-DC4AF194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Scenarier: ingen SMS, gebyr eller ejerløn. Resultat er efter server 74,60 kr. og support 500,00 kr. i hvert selvstændigt scenarie. Partnerprovision er endnu ikke aftalt.</a:t>
            </a:r>
          </a:p>
        </p:txBody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A48D90C0-F720-4CCA-8CCA-9AF23973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06 / 7</a:t>
            </a:r>
          </a:p>
        </p:txBody>
      </p:sp>
    </p:spTree>
    <p:extLst>
      <p:ext uri="{BB962C8B-B14F-4D97-AF65-F5344CB8AC3E}">
        <p14:creationId xmlns:p14="http://schemas.microsoft.com/office/powerpoint/2010/main" val="21382037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7260A2CA-FDC8-4443-84C1-4BE4B159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Forudsætninger for priserne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7F54E440-8D67-43F6-BA08-9FDF76DF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Budgetgrundlag pr. 9. september 2026. Gemini 3.1 Flash Live er målmodellen.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71650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52700"/>
                <a:gridCol w="8420100"/>
              </a:tblGrid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Emne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Forudsætning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AI-kost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Skøn for tokens og samtaleforløb inkl. 20 % reserve. Faktisk forbrug skal måles.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Fastprisbeskyttelse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8-minutters omstilling, separat faseafregning og tokenbaseret koststop skal implementeres. Lokal timeout er 10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Vertex AI og EU/EØS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Planlagt flersproget Gemini 3.1 Flash Live på Vertex, når tilgængelig dér. Pris, EU-region og hele datakæden skal bekræftes.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AAFD2DE-EBD9-4CF5-BAA8-B49325D5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Stresstest: 6 svar/min. og 60 % AI-tale giver 1,64 kr./min. ved 8 min. AI.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09A6B1D-F587-482E-B6A2-A9E712F7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Fast 1,50 kr. giver her tab. Et tidsloft alene beskytter derfor ikke indtjeningen.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41DBBBBC-4A08-4E63-BC42-90325C59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Regnegrundlag og kilder: badlegion.github.io/intelli-prisark/gemini.html. Opstart, særlige integrationer, SLA, udvikling og ikke-oplyst arbejde er ikke prissat.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77A1E2FD-42AB-47A7-99C4-F4FEDDE8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07 / 7</a:t>
            </a:r>
          </a:p>
        </p:txBody>
      </p:sp>
    </p:spTree>
    <p:extLst>
      <p:ext uri="{BB962C8B-B14F-4D97-AF65-F5344CB8AC3E}">
        <p14:creationId xmlns:p14="http://schemas.microsoft.com/office/powerpoint/2010/main" val="15664183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2026-09-09T12:55:35.0180000Z</dcterms:created>
  <dcterms:modified xsi:type="dcterms:W3CDTF">2026-09-09T12:55:35.0180000Z</dcterms:modified>
</coreProperties>
</file>