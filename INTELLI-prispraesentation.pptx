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500afddd344d34" /><Relationship Type="http://schemas.openxmlformats.org/officeDocument/2006/relationships/extended-properties" Target="/docProps/app.xml" Id="R487cb86556c44b95" /><Relationship Type="http://schemas.openxmlformats.org/officeDocument/2006/relationships/officeDocument" Target="/ppt/presentation.xml" Id="R47028cf8d1bd40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066b44c7ce495c"/>
  </p:sldMasterIdLst>
  <p:notesMasterIdLst>
    <p:notesMasterId xmlns:r="http://schemas.openxmlformats.org/officeDocument/2006/relationships" r:id="R56b6b3d753214316"/>
  </p:notesMasterIdLst>
  <p:sldIdLst>
    <p:sldId xmlns:r="http://schemas.openxmlformats.org/officeDocument/2006/relationships" id="256" r:id="R60c73ed586894461"/>
    <p:sldId xmlns:r="http://schemas.openxmlformats.org/officeDocument/2006/relationships" id="257" r:id="R8a6c8f04a7154392"/>
    <p:sldId xmlns:r="http://schemas.openxmlformats.org/officeDocument/2006/relationships" id="258" r:id="R8128228b754f4d02"/>
    <p:sldId xmlns:r="http://schemas.openxmlformats.org/officeDocument/2006/relationships" id="259" r:id="R1772559477854cf9"/>
    <p:sldId xmlns:r="http://schemas.openxmlformats.org/officeDocument/2006/relationships" id="260" r:id="R7c5784b6b06d406b"/>
    <p:sldId xmlns:r="http://schemas.openxmlformats.org/officeDocument/2006/relationships" id="261" r:id="Rec27fb3c19814757"/>
    <p:sldId xmlns:r="http://schemas.openxmlformats.org/officeDocument/2006/relationships" id="262" r:id="Rd379714cae6446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0b8b5c9c744ff6" /><Relationship Type="http://schemas.openxmlformats.org/officeDocument/2006/relationships/slideMaster" Target="/ppt/slideMasters/slideMaster1.xml" Id="R12066b44c7ce495c" /><Relationship Type="http://schemas.openxmlformats.org/officeDocument/2006/relationships/notesMaster" Target="/ppt/notesMasters/notesMaster1.xml" Id="R56b6b3d753214316" /><Relationship Type="http://schemas.openxmlformats.org/officeDocument/2006/relationships/presProps" Target="/ppt/presProps.xml" Id="Ra5ae1a129c434a34" /><Relationship Type="http://schemas.openxmlformats.org/officeDocument/2006/relationships/tableStyles" Target="/ppt/tableStyles.xml" Id="Rd58613aef9164b6f" /><Relationship Type="http://schemas.openxmlformats.org/officeDocument/2006/relationships/slide" Target="/ppt/slides/slide1.xml" Id="R60c73ed586894461" /><Relationship Type="http://schemas.openxmlformats.org/officeDocument/2006/relationships/slide" Target="/ppt/slides/slide2.xml" Id="R8a6c8f04a7154392" /><Relationship Type="http://schemas.openxmlformats.org/officeDocument/2006/relationships/slide" Target="/ppt/slides/slide3.xml" Id="R8128228b754f4d02" /><Relationship Type="http://schemas.openxmlformats.org/officeDocument/2006/relationships/slide" Target="/ppt/slides/slide4.xml" Id="R1772559477854cf9" /><Relationship Type="http://schemas.openxmlformats.org/officeDocument/2006/relationships/slide" Target="/ppt/slides/slide5.xml" Id="R7c5784b6b06d406b" /><Relationship Type="http://schemas.openxmlformats.org/officeDocument/2006/relationships/slide" Target="/ppt/slides/slide6.xml" Id="Rec27fb3c19814757" /><Relationship Type="http://schemas.openxmlformats.org/officeDocument/2006/relationships/slide" Target="/ppt/slides/slide7.xml" Id="Rd379714cae64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7cd98d38c441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4b454539444363" /><Relationship Type="http://schemas.openxmlformats.org/officeDocument/2006/relationships/notesMaster" Target="/ppt/notesMasters/notesMaster1.xml" Id="Rd8f89c41444542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08ac8d4b024146" /><Relationship Type="http://schemas.openxmlformats.org/officeDocument/2006/relationships/notesMaster" Target="/ppt/notesMasters/notesMaster1.xml" Id="Rbd9d60fa9c114e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f17360cc704d02" /><Relationship Type="http://schemas.openxmlformats.org/officeDocument/2006/relationships/notesMaster" Target="/ppt/notesMasters/notesMaster1.xml" Id="R6cb8114216c64f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33791b709940bb" /><Relationship Type="http://schemas.openxmlformats.org/officeDocument/2006/relationships/notesMaster" Target="/ppt/notesMasters/notesMaster1.xml" Id="R69631f10a8754d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57b255cbce47a0" /><Relationship Type="http://schemas.openxmlformats.org/officeDocument/2006/relationships/notesMaster" Target="/ppt/notesMasters/notesMaster1.xml" Id="Ra9a3f54388a043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da1d5feafd4166" /><Relationship Type="http://schemas.openxmlformats.org/officeDocument/2006/relationships/notesMaster" Target="/ppt/notesMasters/notesMaster1.xml" Id="R23cd579d45614f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a818037daa4264" /><Relationship Type="http://schemas.openxmlformats.org/officeDocument/2006/relationships/notesMaster" Target="/ppt/notesMasters/notesMaster1.xml" Id="Rd99992c5beb04d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Regnegrundlag: https://badlegion.github.io/intelli-prisark/GRUNDLAG.md</a:t>
            </a:r>
          </a:p>
          <a:p xmlns:a="http://schemas.openxmlformats.org/drawingml/2006/main">
            <a:r>
              <a:t>Alle kronebeløb er ekskl. moms. AI-kost er budget inkl. 20 % reserve. Tal summeres med fuld præcision før visning i øre.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AI-kost er inkl. 20 % reserve og indgående telefoni. Første minut: AI 0,22 kr. + SIP 0,04 kr. Hver fase afregnes pr. påbegyndt minut.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https://ai.google.dev/gemini-api/docs/pricing</a:t>
            </a:r>
          </a:p>
          <a:p xmlns:a="http://schemas.openxmlformats.org/drawingml/2006/main">
            <a:r>
              <a:t>https://ai.google.dev/gemini-api/docs/live-api/best-practices#pricing-billing</a:t>
            </a:r>
          </a:p>
          <a:p xmlns:a="http://schemas.openxmlformats.org/drawingml/2006/main">
            <a:r>
              <a:t>https://www.twilio.com/en-us/sip-trunking/pricing/dk</a:t>
            </a:r>
          </a:p>
          <a:p xmlns:a="http://schemas.openxmlformats.org/drawingml/2006/main">
            <a:r>
              <a:t>https://www.twilio.com/docs/sip-trunking/call-transfer#pricing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Regnegrundlag: https://badlegion.github.io/intelli-prisark/GRUNDLAG.md</a:t>
            </a:r>
          </a:p>
          <a:p xmlns:a="http://schemas.openxmlformats.org/drawingml/2006/main">
            <a:r>
              <a:t>Alle kronebeløb er ekskl. moms. AI-kost er budget inkl. 20 % reserve. Tal summeres med fuld præcision før visning i øre.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Samme budgetprofil: 3 svar/min., 40 % AI-tale, 4.000 prompttokens, fuldt streamet input og genlæst historik. 20 % reserve. Alle beregninger bruger uafrundede beløb.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https://ai.google.dev/gemini-api/docs/pricing</a:t>
            </a:r>
          </a:p>
          <a:p xmlns:a="http://schemas.openxmlformats.org/drawingml/2006/main">
            <a:r>
              <a:t>https://ai.google.dev/gemini-api/docs/live-api/best-practices#pricing-billing</a:t>
            </a:r>
          </a:p>
          <a:p xmlns:a="http://schemas.openxmlformats.org/drawingml/2006/main">
            <a:r>
              <a:t>https://www.twilio.com/en-us/sip-trunking/pricing/dk</a:t>
            </a:r>
          </a:p>
          <a:p xmlns:a="http://schemas.openxmlformats.org/drawingml/2006/main">
            <a:r>
              <a:t>https://www.twilio.com/docs/sip-trunking/call-transfer#pricing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Regnegrundlag: https://badlegion.github.io/intelli-prisark/GRUNDLAG.md</a:t>
            </a:r>
          </a:p>
          <a:p xmlns:a="http://schemas.openxmlformats.org/drawingml/2006/main">
            <a:r>
              <a:t>Alle kronebeløb er ekskl. moms. AI-kost er budget inkl. 20 % reserve. Tal summeres med fuld præcision før visning i øre.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Server tælles én gang pr. installation. 1-20: nuværende server. 50/100: større server med backup. Kapacitet er et skøn og skal belastningstestes. Ejerløn er 0,00 kr.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https://www.twilio.com/en-us/sip-trunking/pricing/dk</a:t>
            </a:r>
          </a:p>
          <a:p xmlns:a="http://schemas.openxmlformats.org/drawingml/2006/main">
            <a:r>
              <a:t>https://www.twilio.com/docs/sip-trunking/call-transfer#pricing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Regnegrundlag: https://badlegion.github.io/intelli-prisark/GRUNDLAG.md</a:t>
            </a:r>
          </a:p>
          <a:p xmlns:a="http://schemas.openxmlformats.org/drawingml/2006/main">
            <a:r>
              <a:t>Alle kronebeløb er ekskl. moms. AI-kost er budget inkl. 20 % reserve. Tal summeres med fuld præcision før visning i øre.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SMS-robot: 299,00 kr./md. + 0,10 kr./AI-svar + SMS ind/ud. Eksemplet inkluderer 1.000 indgående og 1.000 udgående Twilio-segmenter. Pakkerne er separate fra telefoncases.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https://gatewayapi.com/pricing/</a:t>
            </a:r>
          </a:p>
          <a:p xmlns:a="http://schemas.openxmlformats.org/drawingml/2006/main">
            <a:r>
              <a:t>https://www.twilio.com/en-us/sms/pricing/dk</a:t>
            </a:r>
          </a:p>
          <a:p xmlns:a="http://schemas.openxmlformats.org/drawingml/2006/main">
            <a:r>
              <a:t>https://ai.google.dev/gemini-api/docs/pricing</a:t>
            </a:r>
          </a:p>
          <a:p xmlns:a="http://schemas.openxmlformats.org/drawingml/2006/main">
            <a:r>
              <a:t>https://ai.google.dev/gemini-api/docs/live-api/best-practices#pricing-billing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Regnegrundlag: https://badlegion.github.io/intelli-prisark/GRUNDLAG.md</a:t>
            </a:r>
          </a:p>
          <a:p xmlns:a="http://schemas.openxmlformats.org/drawingml/2006/main">
            <a:r>
              <a:t>Alle kronebeløb er ekskl. moms. AI-kost er budget inkl. 20 % reserve. Tal summeres med fuld præcision før visning i øre.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Månedsindtægt: 7.500,00 kr. abonnement + 12.000,00 kr. AI + 4.900,00 kr. omstilling. Ingen SMS, partner eller gebyr. Resultat før skat er efter de viste budgetudgifter.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https://www.twilio.com/en-us/sip-trunking/pricing/dk</a:t>
            </a:r>
          </a:p>
          <a:p xmlns:a="http://schemas.openxmlformats.org/drawingml/2006/main">
            <a:r>
              <a:t>https://www.twilio.com/docs/sip-trunking/call-transfer#pricing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Regnegrundlag: https://badlegion.github.io/intelli-prisark/GRUNDLAG.md</a:t>
            </a:r>
          </a:p>
          <a:p xmlns:a="http://schemas.openxmlformats.org/drawingml/2006/main">
            <a:r>
              <a:t>Alle kronebeløb er ekskl. moms. AI-kost er budget inkl. 20 % reserve. Tal summeres med fuld præcision før visning i øre.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Scenarier: ingen SMS, gebyr eller ejerløn. Resultat er efter server 74,60 kr. og support 500,00 kr. i hvert selvstændigt scenarie. Partnerprovision er endnu ikke aftalt.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Regnegrundlag: https://badlegion.github.io/intelli-prisark/GRUNDLAG.md</a:t>
            </a:r>
          </a:p>
          <a:p xmlns:a="http://schemas.openxmlformats.org/drawingml/2006/main">
            <a:r>
              <a:t>Alle kronebeløb er ekskl. moms. AI-kost er budget inkl. 20 % reserve. Tal summeres med fuld præcision før visning i øre.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Regnegrundlag og kilder: badlegion.github.io/intelli-prisark/gemini.html. Opstart, særlige integrationer, SLA, udvikling og ikke-oplyst arbejde er ikke prissat.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https://ai.google.dev/gemini-api/docs/pricing</a:t>
            </a:r>
          </a:p>
          <a:p xmlns:a="http://schemas.openxmlformats.org/drawingml/2006/main">
            <a:r>
              <a:t>https://ai.google.dev/gemini-api/docs/live-api/best-practices#pricing-billing</a:t>
            </a:r>
          </a:p>
          <a:p xmlns:a="http://schemas.openxmlformats.org/drawingml/2006/main">
            <a:r>
              <a:t>https://cloud.google.com/vertex-ai/generative-ai/pricing</a:t>
            </a:r>
          </a:p>
          <a:p xmlns:a="http://schemas.openxmlformats.org/drawingml/2006/main">
            <a:r>
              <a:t>https://ai.google.dev/gemini-api/docs/live-api/capabilities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58851a30c46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f649cc3dd241aa" /><Relationship Type="http://schemas.openxmlformats.org/officeDocument/2006/relationships/slideLayout" Target="/ppt/slideLayouts/slideLayout1.xml" Id="R775ccff0d69445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5ccff0d69445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ff89e0ea54e3a" /><Relationship Type="http://schemas.openxmlformats.org/officeDocument/2006/relationships/notesSlide" Target="/ppt/notesSlides/notesSlide1.xml" Id="R4ef67a18034d4e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f26816f624295" /><Relationship Type="http://schemas.openxmlformats.org/officeDocument/2006/relationships/notesSlide" Target="/ppt/notesSlides/notesSlide2.xml" Id="Rfac7aa30d49b42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fc368999146bd" /><Relationship Type="http://schemas.openxmlformats.org/officeDocument/2006/relationships/notesSlide" Target="/ppt/notesSlides/notesSlide3.xml" Id="Rc76ba6cc40f446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c60f89d3c4e35" /><Relationship Type="http://schemas.openxmlformats.org/officeDocument/2006/relationships/notesSlide" Target="/ppt/notesSlides/notesSlide4.xml" Id="Rc2afcac0c4224b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3c91c55384e86" /><Relationship Type="http://schemas.openxmlformats.org/officeDocument/2006/relationships/notesSlide" Target="/ppt/notesSlides/notesSlide5.xml" Id="Rc018a138076840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cbcdc6dc04558" /><Relationship Type="http://schemas.openxmlformats.org/officeDocument/2006/relationships/notesSlide" Target="/ppt/notesSlides/notesSlide6.xml" Id="R2713481b3ba143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e9db14c344657" /><Relationship Type="http://schemas.openxmlformats.org/officeDocument/2006/relationships/notesSlide" Target="/ppt/notesSlides/notesSlide7.xml" Id="R61d754b49aef4e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63D0E08A-571E-41B7-B146-AB98BFCD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Alle minutpriser samlet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58F9B1D-B7F4-4EDB-BFE6-7AFCC942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Gemini. DKK ekskl. moms. Foreløbigt kostbudget og faste salgsforslag.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667250"/>
                <a:gridCol w="2095500"/>
                <a:gridCol w="2095500"/>
                <a:gridCol w="2114550"/>
              </a:tblGrid>
              <a:tr h="5143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Ydelse / samtalelængde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Vores kost / min.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Salgspris / min.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DB / min.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5143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AI, første minut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0,26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1,50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1,24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AI, 3 min. i gennemsnit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0,41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1,50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1,09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AI, 8 min. i gennemsnit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0,78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1,50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0,72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Omstilling til DK mobil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0,38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0,49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0,11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Omstilling til DK fastnet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0,17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0,29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0,12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EE9BC2D-7B1F-4B0F-A207-A7D00B87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Abonnement: 2.500,00 kr. pr. digital medarbejder / måned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9B7B73B-DAAE-485B-AF64-890F18D7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745"/>
                </a:solidFill>
                <a:latin typeface="Arial"/>
                <a:ea typeface="Arial"/>
                <a:cs typeface="Arial"/>
              </a:rPr>
              <a:t>Højst 8 min. AI, derefter betalt omstilling. Ingen inkluderede minutter.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BBECD30-0871-49F0-A47F-A089B4BF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AI-kost er inkl. 20 % reserve og indgående telefoni. Første minut: AI 0,22 kr. + SIP 0,04 kr. Hver fase afregnes pr. påbegyndt minut.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48AB5FA-D214-439C-97C8-214ADF6B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01 / 7</a:t>
            </a:r>
          </a:p>
        </p:txBody>
      </p:sp>
    </p:spTree>
    <p:extLst>
      <p:ext uri="{BB962C8B-B14F-4D97-AF65-F5344CB8AC3E}">
        <p14:creationId xmlns:p14="http://schemas.microsoft.com/office/powerpoint/2010/main" val="2106018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2A2079C-077B-47B6-8873-686EE70B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AI-kost og udvikling under samtalen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79629C6-3BD0-4E4F-A304-5102CF1C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8 minutter koster 6,28 kr. i alt. Gennemsnittet er 0,78 kr./min.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3C3C124-CE45-48FA-9458-6491E975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85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Kost for hele AI-fasen på 8 min.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CCDF058-1B8F-4B0F-898E-7FC15A0C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676400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Stigning i samme samtale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5857875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14825"/>
                <a:gridCol w="1543050"/>
              </a:tblGrid>
              <a:tr h="3333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Kostled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Beløb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3333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Ny lyd ind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0,23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Lydhistorik læst igen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3,74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AI-stemme ud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0,37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Prompt og værktøjer · første gang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0,02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Prompt og teksthistorik læst igen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0,53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Tekst / transskription ud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0,05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AI før reserve (delsum)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4,94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AI-reserve, 20 %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0,99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Indgående SIP, 8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0,35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Samlet kost</a:t>
                      </a:r>
                    </a:p>
                  </a:txBody>
                  <a:tcPr marL="91440" marR="91440" marT="45720" marB="45720" anchor="ctr">
                    <a:solidFill>
                      <a:srgbClr val="EAF4F1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6,28 kr.</a:t>
                      </a:r>
                    </a:p>
                  </a:txBody>
                  <a:tcPr marL="91440" marR="91440" marT="45720" marB="45720" anchor="ctr">
                    <a:solidFill>
                      <a:srgbClr val="EAF4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6753225" y="2057400"/>
          <a:ext xmlns:a="http://schemas.openxmlformats.org/drawingml/2006/main" cx="4829175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90600"/>
                <a:gridCol w="1924050"/>
                <a:gridCol w="1914525"/>
              </a:tblGrid>
              <a:tr h="3810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Tid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Seneste minut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Kost i alt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3810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0,26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0,26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0,41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0,67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3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0,56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1,23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4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0,71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1,94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5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0,86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2,80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6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1,01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3,81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7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1,16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4,97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8 min.</a:t>
                      </a:r>
                    </a:p>
                  </a:txBody>
                  <a:tcPr marL="91440" marR="91440" marT="45720" marB="45720" anchor="ctr">
                    <a:solidFill>
                      <a:srgbClr val="EAF4F1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1,31 kr.</a:t>
                      </a:r>
                    </a:p>
                  </a:txBody>
                  <a:tcPr marL="91440" marR="91440" marT="45720" marB="45720" anchor="ctr">
                    <a:solidFill>
                      <a:srgbClr val="EAF4F1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6,28 kr.</a:t>
                      </a:r>
                    </a:p>
                  </a:txBody>
                  <a:tcPr marL="91440" marR="91440" marT="45720" marB="45720" anchor="ctr">
                    <a:solidFill>
                      <a:srgbClr val="EAF4F1"/>
                    </a:solidFill>
                  </a:tcPr>
                </a:tc>
              </a:tr>
            </a:tbl>
          </a:graphicData>
        </a:graphic>
      </p:graphicFrame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E62E6CA2-4F0C-4319-831A-59D9CA48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Samme budgetprofil: 3 svar/min., 40 % AI-tale, 4.000 prompttokens, fuldt streamet input og genlæst historik. 20 % reserve. Alle beregninger bruger uafrundede beløb.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820EDCAC-877E-4D75-9D31-5B3629E5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02 / 7</a:t>
            </a:r>
          </a:p>
        </p:txBody>
      </p:sp>
    </p:spTree>
    <p:extLst>
      <p:ext uri="{BB962C8B-B14F-4D97-AF65-F5344CB8AC3E}">
        <p14:creationId xmlns:p14="http://schemas.microsoft.com/office/powerpoint/2010/main" val="1108896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69283974-B2E1-4397-9C01-29F3DCF9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Digitale medarbejdere og fast drift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DD18307-2B63-4A7B-AA85-CAE722D8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Én digital medarbejder giver plads til én samtidig kundesamtale, også under omstilling.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333750"/>
                <a:gridCol w="2667000"/>
                <a:gridCol w="2876550"/>
              </a:tblGrid>
              <a:tr h="4572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Medarbejdere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Kundens abonnement / md.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Vores server / md.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Vores kanalleje / md.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4572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2.500,00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74,60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7.500,00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74,60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25.000,00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74,60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50.000,00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74,60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125.000,00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388,58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250.000,00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773,51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3C0514B-A0C2-4423-9F4F-42D07F3B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Pr. kunde: mobilnummer 96,75 kr. / md. + supportreserve 500,00 kr. / md.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F181585-A20E-4ED6-A167-A778BF81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745"/>
                </a:solidFill>
                <a:latin typeface="Arial"/>
                <a:ea typeface="Arial"/>
                <a:cs typeface="Arial"/>
              </a:rPr>
              <a:t>Ét nummer er inkluderet i abonnementet. 24/7-tilgængelighed. Minutter betales separat.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DA3C859-D755-44D4-837F-1025CE3A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Server tælles én gang pr. installation. 1-20: nuværende server. 50/100: større server med backup. Kapacitet er et skøn og skal belastningstestes. Ejerløn er 0,00 kr.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06BEE9C-F207-4C48-BCE5-CB4B8B96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03 / 7</a:t>
            </a:r>
          </a:p>
        </p:txBody>
      </p:sp>
    </p:spTree>
    <p:extLst>
      <p:ext uri="{BB962C8B-B14F-4D97-AF65-F5344CB8AC3E}">
        <p14:creationId xmlns:p14="http://schemas.microsoft.com/office/powerpoint/2010/main" val="1145806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E93D4F3-228E-462A-91D2-314D27D9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SMS, mail og AI-pakker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2B25CE-BB95-4E68-A3D1-04EBF696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Transport afregnes pr. segment eller mail. Pakkeeksemplerne gælder 1.000 AI-behandlinger/svar.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91E8B30-1F72-4FE1-9CD5-AAA7E871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Transport pr. enhed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3B4616A-D4B4-4851-AA3A-34A73427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85925"/>
            <a:ext cx="541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AI-pakker ved 1.000 / måned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9775"/>
                <a:gridCol w="1076325"/>
                <a:gridCol w="1076325"/>
                <a:gridCol w="1076325"/>
              </a:tblGrid>
              <a:tr h="5524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Enhed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Kost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Salg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5524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SMS ud, GatewayAPI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0,30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0,35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0,05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SMS ud, Twilio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0,38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0,45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0,07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SMS ind, Twilio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0,05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0,06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Mailtransport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6172200" y="2076450"/>
          <a:ext xmlns:a="http://schemas.openxmlformats.org/drawingml/2006/main" cx="5410200" cy="2743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81175"/>
                <a:gridCol w="1209675"/>
                <a:gridCol w="1209675"/>
                <a:gridCol w="1209675"/>
              </a:tblGrid>
              <a:tr h="6858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Pakke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Kost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Indtægt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6858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Mail-robot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75,47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299,00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223,53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Webchat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159,64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499,00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339,36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SMS-robot inkl. transport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472,79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909,00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436,21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641919CF-32BF-4337-8721-53A2D2B9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Mailtransport: 0,00 kr. ekstra i jeres opsætning.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84B39A13-489F-475B-BD44-659464B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745"/>
                </a:solidFill>
                <a:latin typeface="Arial"/>
                <a:ea typeface="Arial"/>
                <a:cs typeface="Arial"/>
              </a:rPr>
              <a:t>Ekstra AI-mail: 0,15 kr./behandling. Ekstra webchat: 0,25 kr./svar. DB før fælles drift.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6CE395B0-9EF3-4C7E-899B-19564558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SMS-robot: 299,00 kr./md. + 0,10 kr./AI-svar + SMS ind/ud. Eksemplet inkluderer 1.000 indgående og 1.000 udgående Twilio-segmenter. Pakkerne er separate fra telefoncases.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5B1D0A17-88C5-49F5-9749-1318966E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04 / 7</a:t>
            </a:r>
          </a:p>
        </p:txBody>
      </p:sp>
    </p:spTree>
    <p:extLst>
      <p:ext uri="{BB962C8B-B14F-4D97-AF65-F5344CB8AC3E}">
        <p14:creationId xmlns:p14="http://schemas.microsoft.com/office/powerpoint/2010/main" val="1599580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377AF0C9-25AB-4E2F-A79E-EF0030A1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Fra ét opkald til en kundes månedsresultat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A6749B-9E52-4954-A86E-BBF4B7B5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Månedseksempel: 3 medarbejdere, 1.000 opkald. Alle får 8 min. AI + 10 min. DK mobilomstilling.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EF0553-1E71-4123-BFB7-B5CC2A47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76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Ét opkald: 8 min. AI + 10 min. mobil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87E9EEE-F3C1-491D-9A04-C49EA4AD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668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Kundens månedsregnskab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5781675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05050"/>
                <a:gridCol w="1162050"/>
                <a:gridCol w="1162050"/>
                <a:gridCol w="1152525"/>
              </a:tblGrid>
              <a:tr h="46672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Fase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Kost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Salg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46672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AI, 8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6,28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12,00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5,72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Omstilling, 10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3,81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4,90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1,09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Opkald i alt</a:t>
                      </a:r>
                    </a:p>
                  </a:txBody>
                  <a:tcPr marL="91440" marR="91440" marT="45720" marB="45720" anchor="ctr">
                    <a:solidFill>
                      <a:srgbClr val="EAF4F1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10,09 kr.</a:t>
                      </a:r>
                    </a:p>
                  </a:txBody>
                  <a:tcPr marL="91440" marR="91440" marT="45720" marB="45720" anchor="ctr">
                    <a:solidFill>
                      <a:srgbClr val="EAF4F1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16,90 kr.</a:t>
                      </a:r>
                    </a:p>
                  </a:txBody>
                  <a:tcPr marL="91440" marR="91440" marT="45720" marB="45720" anchor="ctr">
                    <a:solidFill>
                      <a:srgbClr val="EAF4F1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6,81 kr.</a:t>
                      </a:r>
                    </a:p>
                  </a:txBody>
                  <a:tcPr marL="91440" marR="91440" marT="45720" marB="45720" anchor="ctr">
                    <a:solidFill>
                      <a:srgbClr val="EAF4F1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2FDDD47-A8ED-423E-8FF2-6AE639D5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77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Hvis menneskefasen varer længere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4572000"/>
          <a:ext xmlns:a="http://schemas.openxmlformats.org/drawingml/2006/main" cx="5781675" cy="12287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05050"/>
                <a:gridCol w="1162050"/>
                <a:gridCol w="1162050"/>
                <a:gridCol w="1152525"/>
              </a:tblGrid>
              <a:tr h="4095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AI + menneske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Kost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Salg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4095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8 + 30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17,71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26,70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8,99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8 + 60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29,15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41,40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12,25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6734175" y="2047875"/>
          <a:ext xmlns:a="http://schemas.openxmlformats.org/drawingml/2006/main" cx="4848225" cy="3267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90850"/>
                <a:gridCol w="1857375"/>
              </a:tblGrid>
              <a:tr h="46672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Pr. måned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46672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Indtægt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24.400,00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Minus direkte kost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10.184,81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Dækningsbidrag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14.215,19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Minus server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74,60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Minus supportreserve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500,00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Resultat før skat</a:t>
                      </a:r>
                    </a:p>
                  </a:txBody>
                  <a:tcPr marL="91440" marR="91440" marT="45720" marB="45720" anchor="ctr">
                    <a:solidFill>
                      <a:srgbClr val="EAF4F1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13.640,59 kr.</a:t>
                      </a:r>
                    </a:p>
                  </a:txBody>
                  <a:tcPr marL="91440" marR="91440" marT="45720" marB="45720" anchor="ctr">
                    <a:solidFill>
                      <a:srgbClr val="EAF4F1"/>
                    </a:solidFill>
                  </a:tcPr>
                </a:tc>
              </a:tr>
            </a:tbl>
          </a:graphicData>
        </a:graphic>
      </p:graphicFrame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0F26AA71-C065-449A-9363-E249EDB2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534025"/>
            <a:ext cx="4848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56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563"/>
                </a:solidFill>
                <a:latin typeface="Arial"/>
                <a:ea typeface="Arial"/>
                <a:cs typeface="Arial"/>
              </a:rPr>
              <a:t>Dækningsgrad: 58,3 %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E9437AF3-077D-4AA5-8CE5-117F7853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Månedsindtægt: 7.500,00 kr. abonnement + 12.000,00 kr. AI + 4.900,00 kr. omstilling. Ingen SMS, partner eller gebyr. Resultat før skat er efter de viste budgetudgifter.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0BD0C247-DE41-4F02-A2E7-B4D3116E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05 / 7</a:t>
            </a:r>
          </a:p>
        </p:txBody>
      </p:sp>
    </p:spTree>
    <p:extLst>
      <p:ext uri="{BB962C8B-B14F-4D97-AF65-F5344CB8AC3E}">
        <p14:creationId xmlns:p14="http://schemas.microsoft.com/office/powerpoint/2010/main" val="53765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F2A893D9-B10A-4F3A-8720-011685B1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Kundestørrelser og partnerprovision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987B66D-0F5D-4CB9-8824-78A4B83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Alle telefoncases: 8 min. AI + 10 min. DK mobilomstilling pr. opkald. 100 % stilles videre.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2047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14600"/>
                <a:gridCol w="2114550"/>
                <a:gridCol w="2114550"/>
                <a:gridCol w="2114550"/>
                <a:gridCol w="2114550"/>
              </a:tblGrid>
              <a:tr h="4095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Medarbejdere / opkald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Indtægt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Direkte kost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4095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 / 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10.950,00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5.140,78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5.809,22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5.234,62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3 / 1.000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24.400,00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10.184,81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14.215,19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13.640,59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3 / 2.000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41.300,00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20.272,87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21.027,13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20.452,53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20 / 10.000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219.000,00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100.977,33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118.022,67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117.448,07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56CEAEC-CB01-4B95-8AE7-7298C3EA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Partner, samme kunde med 3 medarbejdere og 1.000 opkald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4362450"/>
          <a:ext xmlns:a="http://schemas.openxmlformats.org/drawingml/2006/main" cx="10972800" cy="1619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90950"/>
                <a:gridCol w="2381250"/>
                <a:gridCol w="2381250"/>
                <a:gridCol w="2419350"/>
              </a:tblGrid>
              <a:tr h="3238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Provision af abonnement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Til partner / md.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Vores DB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Vores resultat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3238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0 %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14.215,19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13.640,59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10 %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750,00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13.465,19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12.890,59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20 %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1.500,00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12.715,19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12.140,59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30 %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2.250,00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11.965,19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11.390,59 kr.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56EA876F-D53B-411E-84C5-FA836EF1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Scenarier: ingen SMS, gebyr eller ejerløn. Resultat er efter server 74,60 kr. og support 500,00 kr. i hvert selvstændigt scenarie. Partnerprovision er endnu ikke aftalt.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CCEFB067-83AD-4DD4-9956-2458CA6D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06 / 7</a:t>
            </a:r>
          </a:p>
        </p:txBody>
      </p:sp>
    </p:spTree>
    <p:extLst>
      <p:ext uri="{BB962C8B-B14F-4D97-AF65-F5344CB8AC3E}">
        <p14:creationId xmlns:p14="http://schemas.microsoft.com/office/powerpoint/2010/main" val="1990820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64FFECD-BA2D-40D1-A765-F711D2FA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Forudsætninger for priserne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5A0F5F-AFFD-4DB7-BF4F-E54BD2B9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Budgetgrundlag pr. 9. september 2026. Gemini 3.1 Flash Live er målmodellen.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52700"/>
                <a:gridCol w="8420100"/>
              </a:tblGrid>
              <a:tr h="8001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Emne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Forudsætning</a:t>
                      </a:r>
                    </a:p>
                  </a:txBody>
                  <a:tcPr marL="91440" marR="91440" marT="45720" marB="45720" anchor="ctr">
                    <a:solidFill>
                      <a:srgbClr val="173745"/>
                    </a:solidFill>
                  </a:tcPr>
                </a:tc>
              </a:tr>
              <a:tr h="8001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AI-kost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Skøn for tokens og samtaleforløb inkl. 20 % reserve. Faktisk forbrug skal måles.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Fastprisbeskyttelse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8-minutters omstilling, separat faseafregning og tokenbaseret koststop skal implementeres. Lokal timeout er 10 min.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Vertex AI og EU/EØS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47625" rIns="123825" bIns="4762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73745"/>
                          </a:solidFill>
                          <a:latin typeface="Arial"/>
                          <a:ea typeface="Arial"/>
                          <a:cs typeface="Arial"/>
                        </a:rPr>
                        <a:t>Planlagt flersproget Gemini 3.1 Flash Live på Vertex, når tilgængelig dér. Pris, EU-region og hele datakæden skal bekræftes.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2ED21D6-C45C-4960-863D-FA583969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745"/>
                </a:solidFill>
                <a:latin typeface="Arial"/>
                <a:ea typeface="Arial"/>
                <a:cs typeface="Arial"/>
              </a:rPr>
              <a:t>Stresstest: 6 svar/min. og 60 % AI-tale giver 1,64 kr./min. ved 8 min. AI.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3604ED0-98A3-489D-BDE2-D2964FDB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7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745"/>
                </a:solidFill>
                <a:latin typeface="Arial"/>
                <a:ea typeface="Arial"/>
                <a:cs typeface="Arial"/>
              </a:rPr>
              <a:t>Fast 1,50 kr. giver her tab. Et tidsloft alene beskytter derfor ikke indtjeningen.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58ED535-0EE3-4E46-A3FA-F0F25AB3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Regnegrundlag og kilder: badlegion.github.io/intelli-prisark/gemini.html. Opstart, særlige integrationer, SLA, udvikling og ikke-oplyst arbejde er ikke prissat.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87BDF39-6BB9-4513-B323-37594BDD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F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F7B"/>
                </a:solidFill>
                <a:latin typeface="Arial"/>
                <a:ea typeface="Arial"/>
                <a:cs typeface="Arial"/>
              </a:rPr>
              <a:t>07 / 7</a:t>
            </a:r>
          </a:p>
        </p:txBody>
      </p:sp>
    </p:spTree>
    <p:extLst>
      <p:ext uri="{BB962C8B-B14F-4D97-AF65-F5344CB8AC3E}">
        <p14:creationId xmlns:p14="http://schemas.microsoft.com/office/powerpoint/2010/main" val="1590230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2026-09-09T11:49:39.1000000Z</dcterms:created>
  <dcterms:modified xsi:type="dcterms:W3CDTF">2026-09-09T11:49:39.1000000Z</dcterms:modified>
</coreProperties>
</file>