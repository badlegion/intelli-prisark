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0ad2a9682849e0" /><Relationship Type="http://schemas.openxmlformats.org/officeDocument/2006/relationships/extended-properties" Target="/docProps/app.xml" Id="R2d136a911ec24a6e" /><Relationship Type="http://schemas.openxmlformats.org/officeDocument/2006/relationships/officeDocument" Target="/ppt/presentation.xml" Id="R8c9cbece910747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8d4f7238d542d5"/>
  </p:sldMasterIdLst>
  <p:notesMasterIdLst>
    <p:notesMasterId xmlns:r="http://schemas.openxmlformats.org/officeDocument/2006/relationships" r:id="R0f94b606f53f41f8"/>
  </p:notesMasterIdLst>
  <p:sldIdLst>
    <p:sldId xmlns:r="http://schemas.openxmlformats.org/officeDocument/2006/relationships" id="256" r:id="R6f125485e1c64490"/>
    <p:sldId xmlns:r="http://schemas.openxmlformats.org/officeDocument/2006/relationships" id="257" r:id="Rea71067ced6d4fda"/>
    <p:sldId xmlns:r="http://schemas.openxmlformats.org/officeDocument/2006/relationships" id="258" r:id="Rc0d18f5d04dd4bfb"/>
    <p:sldId xmlns:r="http://schemas.openxmlformats.org/officeDocument/2006/relationships" id="259" r:id="R807b6fd2f7d84238"/>
    <p:sldId xmlns:r="http://schemas.openxmlformats.org/officeDocument/2006/relationships" id="260" r:id="R3713559fb34b44e5"/>
    <p:sldId xmlns:r="http://schemas.openxmlformats.org/officeDocument/2006/relationships" id="261" r:id="R7346fc2e70a44c54"/>
    <p:sldId xmlns:r="http://schemas.openxmlformats.org/officeDocument/2006/relationships" id="262" r:id="R4f39f28b24444b17"/>
    <p:sldId xmlns:r="http://schemas.openxmlformats.org/officeDocument/2006/relationships" id="263" r:id="R02a9a9710fb040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0ded97280b4c44" /><Relationship Type="http://schemas.openxmlformats.org/officeDocument/2006/relationships/slideMaster" Target="/ppt/slideMasters/slideMaster1.xml" Id="Rce8d4f7238d542d5" /><Relationship Type="http://schemas.openxmlformats.org/officeDocument/2006/relationships/notesMaster" Target="/ppt/notesMasters/notesMaster1.xml" Id="R0f94b606f53f41f8" /><Relationship Type="http://schemas.openxmlformats.org/officeDocument/2006/relationships/presProps" Target="/ppt/presProps.xml" Id="Rbb899e3a9a264523" /><Relationship Type="http://schemas.openxmlformats.org/officeDocument/2006/relationships/tableStyles" Target="/ppt/tableStyles.xml" Id="Radeaf1c507f64cc8" /><Relationship Type="http://schemas.openxmlformats.org/officeDocument/2006/relationships/slide" Target="/ppt/slides/slide1.xml" Id="R6f125485e1c64490" /><Relationship Type="http://schemas.openxmlformats.org/officeDocument/2006/relationships/slide" Target="/ppt/slides/slide2.xml" Id="Rea71067ced6d4fda" /><Relationship Type="http://schemas.openxmlformats.org/officeDocument/2006/relationships/slide" Target="/ppt/slides/slide3.xml" Id="Rc0d18f5d04dd4bfb" /><Relationship Type="http://schemas.openxmlformats.org/officeDocument/2006/relationships/slide" Target="/ppt/slides/slide4.xml" Id="R807b6fd2f7d84238" /><Relationship Type="http://schemas.openxmlformats.org/officeDocument/2006/relationships/slide" Target="/ppt/slides/slide5.xml" Id="R3713559fb34b44e5" /><Relationship Type="http://schemas.openxmlformats.org/officeDocument/2006/relationships/slide" Target="/ppt/slides/slide6.xml" Id="R7346fc2e70a44c54" /><Relationship Type="http://schemas.openxmlformats.org/officeDocument/2006/relationships/slide" Target="/ppt/slides/slide7.xml" Id="R4f39f28b24444b17" /><Relationship Type="http://schemas.openxmlformats.org/officeDocument/2006/relationships/slide" Target="/ppt/slides/slide8.xml" Id="R02a9a9710fb040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ec450749f343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0a41fef3204eaa" /><Relationship Type="http://schemas.openxmlformats.org/officeDocument/2006/relationships/notesMaster" Target="/ppt/notesMasters/notesMaster1.xml" Id="R34458bd382b843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8f3b8333fb4f74" /><Relationship Type="http://schemas.openxmlformats.org/officeDocument/2006/relationships/notesMaster" Target="/ppt/notesMasters/notesMaster1.xml" Id="Rbdd8f083a19440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f697c8e41d4183" /><Relationship Type="http://schemas.openxmlformats.org/officeDocument/2006/relationships/notesMaster" Target="/ppt/notesMasters/notesMaster1.xml" Id="R52161a2617424c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14794b2f1d4677" /><Relationship Type="http://schemas.openxmlformats.org/officeDocument/2006/relationships/notesMaster" Target="/ppt/notesMasters/notesMaster1.xml" Id="R758b16eaae6d43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8ec55c1b0a4c5b" /><Relationship Type="http://schemas.openxmlformats.org/officeDocument/2006/relationships/notesMaster" Target="/ppt/notesMasters/notesMaster1.xml" Id="R84cbda1c969b4e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8d822632d64333" /><Relationship Type="http://schemas.openxmlformats.org/officeDocument/2006/relationships/notesMaster" Target="/ppt/notesMasters/notesMaster1.xml" Id="R0c26d683e2fd41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6af1e936424bf1" /><Relationship Type="http://schemas.openxmlformats.org/officeDocument/2006/relationships/notesMaster" Target="/ppt/notesMasters/notesMaster1.xml" Id="Rb9858fe067344d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c5e1767e2a4b08" /><Relationship Type="http://schemas.openxmlformats.org/officeDocument/2006/relationships/notesMaster" Target="/ppt/notesMasters/notesMaster1.xml" Id="R4e91945cb0914c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AI-fasen og omstillingen afregnes hver for sig. Fast AI-pris kræver koststop. Se forudsætninger på side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Første minut: AI 0,22 + telefoni 0,04 = 0,26 kr. (inkl. 20 % AI-reserve). DB = salg - kost, før fast drift. Påbegyndte minutter.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Skøn: 3 svar/min., 40 % AI-tale, 4.000 prompttokens og fuld inputstream. Historik genlæses. Beløb beregnes før afrunding.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Server regnes én gang pr. installation. Kapacitet er skøn. Særtilbud: 20 for 60.000,00 kr./md. er ikke indregnet 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Kost summeres før afrunding. Ekstra AI-mail: 0,15 kr./behandling; webchat: 0,25 kr./svar. Pakkerne er tillæg til telefoni.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https://gatewayapi.com/pricing/</a:t>
            </a:r>
          </a:p>
          <a:p xmlns:a="http://schemas.openxmlformats.org/drawingml/2006/main">
            <a:r>
              <a:t>https://www.twilio.com/en-us/sms/pricing/dk</a:t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Kost = AI 6.276,11 + omstilling 3.811,95 + nummer 96,75 = 10.184,81 kr.</a:t>
            </a:r>
          </a:p>
          <a:p xmlns:a="http://schemas.openxmlformats.org/drawingml/2006/main">
            <a:r>
              <a:t>Månedstotaler beregnes før afrunding. Ingen SMS, partner eller gebyr.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Resultat = DB - server 74,60 kr. - supportreserve 500,00 kr. Ingen SMS, gebyr eller ejerløn. Partnerprovision er ikke aftalt.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Kilder: badlegion.github.io/intelli-prisark/GRUNDLAG.md. Opstart, integrationer, SLA og udvikling er ikke prissat.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https://cloud.google.com/vertex-ai/generative-ai/pricing</a:t>
            </a:r>
          </a:p>
          <a:p xmlns:a="http://schemas.openxmlformats.org/drawingml/2006/main">
            <a:r>
              <a:t>https://ai.google.dev/gemini-api/docs/live-api/capabilities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ce398dbc5c4c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a0c6bd65094eb2" /><Relationship Type="http://schemas.openxmlformats.org/officeDocument/2006/relationships/slideLayout" Target="/ppt/slideLayouts/slideLayout1.xml" Id="Re08248d2307246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8248d2307246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7eac0fb9b4922" /><Relationship Type="http://schemas.openxmlformats.org/officeDocument/2006/relationships/notesSlide" Target="/ppt/notesSlides/notesSlide1.xml" Id="R9579a0a9f7fc4d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f8846864f41ed" /><Relationship Type="http://schemas.openxmlformats.org/officeDocument/2006/relationships/notesSlide" Target="/ppt/notesSlides/notesSlide2.xml" Id="R4778f1469c8e48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fca7ec7f84804" /><Relationship Type="http://schemas.openxmlformats.org/officeDocument/2006/relationships/notesSlide" Target="/ppt/notesSlides/notesSlide3.xml" Id="R1630a999423445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6267f22884771" /><Relationship Type="http://schemas.openxmlformats.org/officeDocument/2006/relationships/notesSlide" Target="/ppt/notesSlides/notesSlide4.xml" Id="R023b4ae1f3524f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a1417b3414031" /><Relationship Type="http://schemas.openxmlformats.org/officeDocument/2006/relationships/notesSlide" Target="/ppt/notesSlides/notesSlide5.xml" Id="R51cb239a33a34f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a374f31bb4c03" /><Relationship Type="http://schemas.openxmlformats.org/officeDocument/2006/relationships/notesSlide" Target="/ppt/notesSlides/notesSlide6.xml" Id="R1727cb9006be4b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6044007f64a60" /><Relationship Type="http://schemas.openxmlformats.org/officeDocument/2006/relationships/notesSlide" Target="/ppt/notesSlides/notesSlide7.xml" Id="R0676283d0f104e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3d1abc5104b60" /><Relationship Type="http://schemas.openxmlformats.org/officeDocument/2006/relationships/notesSlide" Target="/ppt/notesSlides/notesSlide8.xml" Id="R32c5af4bcba04c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0">
            <a:extLst xmlns:a="http://schemas.openxmlformats.org/drawingml/2006/main">
              <a:ext uri="{FF2B5EF4-FFF2-40B4-BE49-F238E27FC236}">
                <a16:creationId xmlns:a16="http://schemas.microsoft.com/office/drawing/2014/main" id="{08E6EA9A-6AAE-4349-9A28-37150BA6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Vores salgspriser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01FCCB1-4702-48D6-BA3C-908C3C92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Prisforslag. DKK ekskl. moms. Abonnement + forbrug.</a:t>
            </a:r>
          </a:p>
        </p:txBody>
      </p:sp>
      <p:sp>
        <p:nvSpPr>
          <p:cNvPr id="3" name="price-box-2">
            <a:extLst xmlns:a="http://schemas.openxmlformats.org/drawingml/2006/main">
              <a:ext uri="{FF2B5EF4-FFF2-40B4-BE49-F238E27FC236}">
                <a16:creationId xmlns:a16="http://schemas.microsoft.com/office/drawing/2014/main" id="{5AED73AC-A594-4282-B205-277EC511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57175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745"/>
          </a:solidFill>
          <a:ln xmlns:a="http://schemas.openxmlformats.org/drawingml/2006/main" w="0">
            <a:noFill/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481DE56-6FC8-4F0E-9926-263BBAC8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AI-telefon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EEE0AE0-DCFE-43AE-8DCF-A8D50080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0375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A0F2C17E-9E99-49E9-ABB1-DACC2903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kr. pr. påbegyndt minut</a:t>
            </a:r>
          </a:p>
        </p:txBody>
      </p:sp>
      <p:sp>
        <p:nvSpPr>
          <p:cNvPr id="7" name="price-box-6">
            <a:extLst xmlns:a="http://schemas.openxmlformats.org/drawingml/2006/main">
              <a:ext uri="{FF2B5EF4-FFF2-40B4-BE49-F238E27FC236}">
                <a16:creationId xmlns:a16="http://schemas.microsoft.com/office/drawing/2014/main" id="{7F87160D-0301-4BE1-97C8-CA2BA1F9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00250"/>
            <a:ext cx="257175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1"/>
          </a:solidFill>
          <a:ln xmlns:a="http://schemas.openxmlformats.org/drawingml/2006/main" w="0">
            <a:noFill/>
          </a:ln>
        </p:spPr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F16CD135-BEF7-495A-90CC-827BA9AC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47900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Digital medarbejder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5DFC09E6-2227-4D7E-BE98-C7ADF9E8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00375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4.000,00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479F459A-F4D7-4F40-B16C-C3B7E764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76675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kr. pr. kanal / måned</a:t>
            </a:r>
          </a:p>
        </p:txBody>
      </p:sp>
      <p:sp>
        <p:nvSpPr>
          <p:cNvPr id="11" name="price-box-10">
            <a:extLst xmlns:a="http://schemas.openxmlformats.org/drawingml/2006/main">
              <a:ext uri="{FF2B5EF4-FFF2-40B4-BE49-F238E27FC236}">
                <a16:creationId xmlns:a16="http://schemas.microsoft.com/office/drawing/2014/main" id="{AE538EB6-24B7-4A23-877C-C1CC7EA9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57175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1"/>
          </a:solidFill>
          <a:ln xmlns:a="http://schemas.openxmlformats.org/drawingml/2006/main" w="0">
            <a:noFill/>
          </a:ln>
        </p:spPr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E70FEC0C-2828-4EDE-9739-DDA55D39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47900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Omstilling til DK mobil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34790400-F749-456B-8B07-BFBC01F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00375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0,49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0A16B7AD-309B-476D-8037-4AD59251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76675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kr. pr. påbegyndt minut</a:t>
            </a:r>
          </a:p>
        </p:txBody>
      </p:sp>
      <p:sp>
        <p:nvSpPr>
          <p:cNvPr id="15" name="price-box-14">
            <a:extLst xmlns:a="http://schemas.openxmlformats.org/drawingml/2006/main">
              <a:ext uri="{FF2B5EF4-FFF2-40B4-BE49-F238E27FC236}">
                <a16:creationId xmlns:a16="http://schemas.microsoft.com/office/drawing/2014/main" id="{8E54A096-9EC8-47DD-A101-2E1AC567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00250"/>
            <a:ext cx="257175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1"/>
          </a:solidFill>
          <a:ln xmlns:a="http://schemas.openxmlformats.org/drawingml/2006/main" w="0">
            <a:noFill/>
          </a:ln>
        </p:spPr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7A2DE2B0-7766-4711-8714-7C0A63BF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Omstilling til DK fastnet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F9C960B6-2CF2-4182-AD26-AFB7CF5F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00375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0,29</a:t>
            </a:r>
          </a:p>
        </p:txBody>
      </p:sp>
      <p:sp>
        <p:nvSpPr>
          <p:cNvPr id="18" name="text-17">
            <a:extLst xmlns:a="http://schemas.openxmlformats.org/drawingml/2006/main">
              <a:ext uri="{FF2B5EF4-FFF2-40B4-BE49-F238E27FC236}">
                <a16:creationId xmlns:a16="http://schemas.microsoft.com/office/drawing/2014/main" id="{E9916443-D76A-42F0-81BE-E1BF79A9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76675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kr. pr. påbegyndt minut</a:t>
            </a:r>
          </a:p>
        </p:txBody>
      </p:sp>
      <p:sp>
        <p:nvSpPr>
          <p:cNvPr id="19" name="text-18">
            <a:extLst xmlns:a="http://schemas.openxmlformats.org/drawingml/2006/main">
              <a:ext uri="{FF2B5EF4-FFF2-40B4-BE49-F238E27FC236}">
                <a16:creationId xmlns:a16="http://schemas.microsoft.com/office/drawing/2014/main" id="{F8782298-4837-4B7B-B864-D5F43844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Månedspris = abonnement + AI-minutter + omstilling</a:t>
            </a:r>
          </a:p>
        </p:txBody>
      </p:sp>
      <p:sp>
        <p:nvSpPr>
          <p:cNvPr id="20" name="text-19">
            <a:extLst xmlns:a="http://schemas.openxmlformats.org/drawingml/2006/main">
              <a:ext uri="{FF2B5EF4-FFF2-40B4-BE49-F238E27FC236}">
                <a16:creationId xmlns:a16="http://schemas.microsoft.com/office/drawing/2014/main" id="{D4015E78-E306-48F1-BA36-0A47B8EF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Én kanal = én samtidig samtale. Maks. 8 min. AI, så betalt omstilling. Ingen inkluderede minutter.</a:t>
            </a:r>
          </a:p>
        </p:txBody>
      </p:sp>
      <p:sp>
        <p:nvSpPr>
          <p:cNvPr id="21" name="text-20">
            <a:extLst xmlns:a="http://schemas.openxmlformats.org/drawingml/2006/main">
              <a:ext uri="{FF2B5EF4-FFF2-40B4-BE49-F238E27FC236}">
                <a16:creationId xmlns:a16="http://schemas.microsoft.com/office/drawing/2014/main" id="{5B4857E3-D966-40D4-85BD-CD2A808D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AI-fasen og omstillingen afregnes hver for sig. Fast AI-pris kræver koststop. Se forudsætninger på side 8.</a:t>
            </a:r>
          </a:p>
        </p:txBody>
      </p:sp>
      <p:sp>
        <p:nvSpPr>
          <p:cNvPr id="22" name="text-21">
            <a:extLst xmlns:a="http://schemas.openxmlformats.org/drawingml/2006/main">
              <a:ext uri="{FF2B5EF4-FFF2-40B4-BE49-F238E27FC236}">
                <a16:creationId xmlns:a16="http://schemas.microsoft.com/office/drawing/2014/main" id="{4EC97957-D628-400D-A758-2389FB3D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01 / 8</a:t>
            </a:r>
          </a:p>
        </p:txBody>
      </p:sp>
    </p:spTree>
    <p:extLst>
      <p:ext uri="{BB962C8B-B14F-4D97-AF65-F5344CB8AC3E}">
        <p14:creationId xmlns:p14="http://schemas.microsoft.com/office/powerpoint/2010/main" val="3836823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0C609801-C30D-4B3D-8C49-4F77264C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Alle minutpriser samlet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7CDAA48C-188B-4938-829A-1B6EEE70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Gemini. DKK ekskl. moms. Kost er budget; salg er vores prisforslag.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0861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667250"/>
                <a:gridCol w="2095500"/>
                <a:gridCol w="2095500"/>
                <a:gridCol w="2114550"/>
              </a:tblGrid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Ydelse / samtalelængde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kost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Salgspris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første minut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1,24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3 min. i gennemsnit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8 min. i gennemsnit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Omstilling til DK mobil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Omstilling til DK fastnet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D22A1C4B-20FB-4A85-B020-4A2A6F94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Abonnement: 4.000,00 kr. pr. digital medarbejder / måned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A2A5AB4-4771-4097-A14E-EDF5593F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Maks. 8 min. AI, så betalt omstilling. Ingen inkluderede minutter.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A6DDD106-EAD5-4B88-A11C-76E6E1A3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Første minut: AI 0,22 + telefoni 0,04 = 0,26 kr. (inkl. 20 % AI-reserve). DB = salg - kost, før fast drift. Påbegyndte minutter.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9C084FA9-CFD2-49B7-A188-C2D7DD03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02 / 8</a:t>
            </a:r>
          </a:p>
        </p:txBody>
      </p:sp>
    </p:spTree>
    <p:extLst>
      <p:ext uri="{BB962C8B-B14F-4D97-AF65-F5344CB8AC3E}">
        <p14:creationId xmlns:p14="http://schemas.microsoft.com/office/powerpoint/2010/main" val="760426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9FF11953-548C-4D55-A58E-A6EA175A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AI-kost fra første til sidste minut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9AE1EC9-F8A5-41E5-9769-761B1443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Hele AI-fasen: 6,28 kr. for 8 min. Gennemsnit: 0,78 kr./min.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78BBF65-572E-45B8-88F1-37F78AAA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85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 for 8 min. AI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A37F715-AB2C-4B7B-9E2B-BF880798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676400"/>
            <a:ext cx="4838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 minut for minut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57400"/>
          <a:ext xmlns:a="http://schemas.openxmlformats.org/drawingml/2006/main" cx="5857875" cy="3667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314825"/>
                <a:gridCol w="1543050"/>
              </a:tblGrid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Kostled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Beløb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Ny lyd ind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Lydhistorik læst igen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3,74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AI-stemme ud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Prompt og værktøjer · første gang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Prompt og teksthistorik læst igen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Tekst / transskription ud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AI-delsum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4,94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Reserve, 20 %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0,99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Telefoni, 8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Samlet kost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753225" y="2057400"/>
          <a:ext xmlns:a="http://schemas.openxmlformats.org/drawingml/2006/main" cx="482917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990600"/>
                <a:gridCol w="1924050"/>
                <a:gridCol w="1914525"/>
              </a:tblGrid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Dette minut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Indtil nu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0,67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1,23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1,94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0,86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2,80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1,16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min.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1,31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9631CDF0-F1B8-4B3F-90C1-3A512D37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5591175"/>
            <a:ext cx="4829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Indtil nu = summen af minutterne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502C3AF5-279C-4179-83B6-43908A4C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5857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4,94 + 0,99 + 0,35 = 6,28 kr.</a:t>
            </a:r>
          </a:p>
        </p:txBody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7EEAFB2C-7F16-49BD-8003-FCEFF776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Skøn: 3 svar/min., 40 % AI-tale, 4.000 prompttokens og fuld inputstream. Historik genlæses. Beløb beregnes før afrunding.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170D7F38-6EB8-43D4-9B8F-6216C913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03 / 8</a:t>
            </a:r>
          </a:p>
        </p:txBody>
      </p:sp>
    </p:spTree>
    <p:extLst>
      <p:ext uri="{BB962C8B-B14F-4D97-AF65-F5344CB8AC3E}">
        <p14:creationId xmlns:p14="http://schemas.microsoft.com/office/powerpoint/2010/main" val="8856722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E6A99970-D96E-4BE0-A933-64273C42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Abonnement og faste udgifter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05FA4E5-3DAD-4870-BE5B-D975F639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Abonnement = antal × 4.000,00 kr./md. Én medarbejder = én samtidig samtale, også ved omstilling.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81175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3333750"/>
                <a:gridCol w="2667000"/>
                <a:gridCol w="2876550"/>
              </a:tblGrid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Medarbejdere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Abonnement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server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kanalleje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388,58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400.000,00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773,51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96CD282C-C2AC-4F85-97D6-46D761DD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Nummer 96,75 kr. + supportreserve 500,00 kr. = 596,75 kr. / kunde / md.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ACA06114-F597-4A3D-90BE-F72ECFE4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Kunden får 24/7 og ét nummer; minutter betales separat. Server og kanalleje kommer oveni vores kost.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02FE5578-BCC4-40CB-BD04-130CFEAF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Server regnes én gang pr. installation. Kapacitet er skøn. Særtilbud: 20 for 60.000,00 kr./md. er ikke indregnet her.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D53B32E2-FE33-40B1-BE90-268F1A00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04 / 8</a:t>
            </a:r>
          </a:p>
        </p:txBody>
      </p:sp>
    </p:spTree>
    <p:extLst>
      <p:ext uri="{BB962C8B-B14F-4D97-AF65-F5344CB8AC3E}">
        <p14:creationId xmlns:p14="http://schemas.microsoft.com/office/powerpoint/2010/main" val="1880532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33A4F2F3-888F-46C9-BF7E-944A1A01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SMS, mail og AI-pakker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0069CCC-0BA2-4AC0-B37A-AA0330C5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Pakker: 1.000 AI-svar/md. SMS-robot: 1.000 SMS ind + 1.000 ud. SMS afregnes pr. segment.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AE06FB1-14D7-4828-8979-01E222D4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Transport pr. enhed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CAECB91-438D-47DA-8590-2CC372A3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85925"/>
            <a:ext cx="541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AI-pakker ved 1.000 / måned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09775"/>
                <a:gridCol w="1076325"/>
                <a:gridCol w="1076325"/>
                <a:gridCol w="1076325"/>
              </a:tblGrid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Enhed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ud, GatewayAPI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ud, Twilio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ind, Twilio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Mailtransport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72200" y="2076450"/>
          <a:ext xmlns:a="http://schemas.openxmlformats.org/drawingml/2006/main" cx="5410200" cy="27432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781175"/>
                <a:gridCol w="1209675"/>
                <a:gridCol w="1209675"/>
                <a:gridCol w="1209675"/>
              </a:tblGrid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Pakke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Indtægt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Mail-robot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75,47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223,53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Webchat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159,64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499,00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339,36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SMS-robot inkl. transport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472,79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909,00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436,21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673F7B27-3DE8-4103-9356-B4D327AE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SMS-robot: sådan bliver månedsbeløbet til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8A5B7968-3334-44E2-AED3-68CEC025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Salg: 299,00 abonnement + 100,00 AI + 60,00 SMS ind + 450,00 SMS ud = 909,00 kr.</a:t>
            </a:r>
          </a:p>
          <a:p xmlns:a="http://schemas.openxmlformats.org/drawingml/2006/main">
            <a:pPr algn="l">
              <a:defRPr sz="150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Kost: 42,57 AI + 48,38 SMS ind + 381,84 SMS ud = 472,79 kr.</a:t>
            </a:r>
          </a:p>
        </p:txBody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CF1F7733-A21A-48A3-A9E9-D687DFA8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Kost summeres før afrunding. Ekstra AI-mail: 0,15 kr./behandling; webchat: 0,25 kr./svar. Pakkerne er tillæg til telefoni.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4EF16284-1EF0-4AAB-8240-96758343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05 / 8</a:t>
            </a:r>
          </a:p>
        </p:txBody>
      </p:sp>
    </p:spTree>
    <p:extLst>
      <p:ext uri="{BB962C8B-B14F-4D97-AF65-F5344CB8AC3E}">
        <p14:creationId xmlns:p14="http://schemas.microsoft.com/office/powerpoint/2010/main" val="19360807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873BF963-E5B6-4519-B52C-F14DAE3A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Ét opkald og vores månedsregnskab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E5DFBCA-7EEF-4940-8203-3F02B15A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3 medarbejdere. 1.000 opkald/md. Alle får 8 min. AI + 10 min. omstilling til DK mobil.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7D71288-42D6-4A90-B17C-DFFBCE72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76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Ét opkald: 8 min. AI + 10 min. mobil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85A0920-3092-45DC-B012-95E45048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166687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Vores regnskab / måned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5781675" cy="18669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05050"/>
                <a:gridCol w="1162050"/>
                <a:gridCol w="1162050"/>
                <a:gridCol w="1152525"/>
              </a:tblGrid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Fase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AI, 8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5,72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Mobil, 10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Opkald i alt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10,09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16,90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6,81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77BC1AEE-3566-440D-8365-4AD0FE0C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577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Andre opkald med længere omstilling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4572000"/>
          <a:ext xmlns:a="http://schemas.openxmlformats.org/drawingml/2006/main" cx="5781675" cy="12287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05050"/>
                <a:gridCol w="1162050"/>
                <a:gridCol w="1162050"/>
                <a:gridCol w="1152525"/>
              </a:tblGrid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AI + menneske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+ 30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17,71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26,70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8,99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+ 60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29,15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41,40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12,25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734175" y="2047875"/>
          <a:ext xmlns:a="http://schemas.openxmlformats.org/drawingml/2006/main" cx="484822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990850"/>
                <a:gridCol w="1857375"/>
              </a:tblGrid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Pr. måned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Abonnement (3 stk.)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AI (8.000 min.)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Omstilling (10.000 min.)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4.900,00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Indtægt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28.900,00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- Opkald og nummer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10.184,81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Dækningsbidrag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18.715,19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- Server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- Supportreserve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Resultat før skat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18.140,59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9" name="text-5">
            <a:extLst xmlns:a="http://schemas.openxmlformats.org/drawingml/2006/main">
              <a:ext uri="{FF2B5EF4-FFF2-40B4-BE49-F238E27FC236}">
                <a16:creationId xmlns:a16="http://schemas.microsoft.com/office/drawing/2014/main" id="{26245C8B-FFB5-4EED-9865-778595E3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5534025"/>
            <a:ext cx="4848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8756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563"/>
                </a:solidFill>
                <a:latin typeface="Arial"/>
                <a:ea typeface="Arial"/>
                <a:cs typeface="Arial"/>
              </a:rPr>
              <a:t>Dækningsgrad: 64,8 %</a:t>
            </a:r>
          </a:p>
        </p:txBody>
      </p:sp>
      <p:sp>
        <p:nvSpPr>
          <p:cNvPr id="10" name="text-6">
            <a:extLst xmlns:a="http://schemas.openxmlformats.org/drawingml/2006/main">
              <a:ext uri="{FF2B5EF4-FFF2-40B4-BE49-F238E27FC236}">
                <a16:creationId xmlns:a16="http://schemas.microsoft.com/office/drawing/2014/main" id="{E24ACC1C-52CB-4830-9776-8CB43DE1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Kost = AI 6.276,11 + omstilling 3.811,95 + nummer 96,75 = 10.184,81 kr.</a:t>
            </a:r>
          </a:p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Månedstotaler beregnes før afrunding. Ingen SMS, partner eller gebyr.</a:t>
            </a:r>
          </a:p>
        </p:txBody>
      </p:sp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0FC2BB5A-F7DB-4E48-98DE-9C8297A1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06 / 8</a:t>
            </a:r>
          </a:p>
        </p:txBody>
      </p:sp>
    </p:spTree>
    <p:extLst>
      <p:ext uri="{BB962C8B-B14F-4D97-AF65-F5344CB8AC3E}">
        <p14:creationId xmlns:p14="http://schemas.microsoft.com/office/powerpoint/2010/main" val="9156724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562A68EF-B3EA-4F5F-B3E4-5C2F12A4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Kundestørrelser og partnerprovision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D1E9A50-470F-411B-9FE6-C405C843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Alle opkald: 8 min. AI + 10 min. DK mobil. Hver række er én separat kundecase.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20478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14600"/>
                <a:gridCol w="2114550"/>
                <a:gridCol w="2114550"/>
                <a:gridCol w="2114550"/>
                <a:gridCol w="2114550"/>
              </a:tblGrid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Medarbejdere / opkald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Indtægt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Direkte 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 / 500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12.450,00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5.140,78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7.309,22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6.734,62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/ 1.000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28.900,00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10.184,81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18.715,19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18.140,59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/ 2.000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45.800,00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20.272,87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25.527,13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24.952,53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 / 10.000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249.000,00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100.977,33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148.022,67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147.448,07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E465109E-4AF9-4705-AC1C-A5FAC419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Partner: 0-30 % af abonnementet på 12.000,00 kr./md. Samme kunde med 1.000 opkald.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4362450"/>
          <a:ext xmlns:a="http://schemas.openxmlformats.org/drawingml/2006/main" cx="10972800" cy="1619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790950"/>
                <a:gridCol w="2381250"/>
                <a:gridCol w="2381250"/>
                <a:gridCol w="2419350"/>
              </a:tblGrid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Provision af abonnement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Til partner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 efter partner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18.715,19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18.140,59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1.200,00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17.515,19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16.940,59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2.400,00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16.315,19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15.740,59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3.600,00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15.115,19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14.540,59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3">
            <a:extLst xmlns:a="http://schemas.openxmlformats.org/drawingml/2006/main">
              <a:ext uri="{FF2B5EF4-FFF2-40B4-BE49-F238E27FC236}">
                <a16:creationId xmlns:a16="http://schemas.microsoft.com/office/drawing/2014/main" id="{62F5DA6C-2355-4111-ADEA-B556204F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Resultat = DB - server 74,60 kr. - supportreserve 500,00 kr. Ingen SMS, gebyr eller ejerløn. Partnerprovision er ikke aftalt.</a:t>
            </a:r>
          </a:p>
        </p:txBody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74B87A18-2941-4DFE-A647-74D53E1E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07 / 8</a:t>
            </a:r>
          </a:p>
        </p:txBody>
      </p:sp>
    </p:spTree>
    <p:extLst>
      <p:ext uri="{BB962C8B-B14F-4D97-AF65-F5344CB8AC3E}">
        <p14:creationId xmlns:p14="http://schemas.microsoft.com/office/powerpoint/2010/main" val="11331937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935629AC-F0F3-46C8-98DC-210F2693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Forudsætninger for priserne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C299A4A-1075-4AC5-865F-CDABCA68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Budget pr. 9. september 2026. Krav før salg med fast pris.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71650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52700"/>
                <a:gridCol w="8420100"/>
              </a:tblGrid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Emne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Forudsætning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AI-kost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Skøn med 20 % reserve. Faktisk forbrug skal måles.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Fastprisbeskyttelse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Implementér omstilling efter 8 min., faseafregning og tokenbaseret koststop. Kodens timeout er 10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Vertex AI og EU/EØS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Mål: flersproget Gemini 3.1 Flash Live på Vertex. Tilgængelighed, pris, EU-region og datakæde skal bekræftes.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E329D9B-A083-4113-8809-26D582B2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Stresstest: 6 svar/min., 60 % AI-tale og 8 min. AI.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969E2F8A-B0DF-4070-B629-BBDCF991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Salg 1,50 kr. - kost 1,64 kr. = tab 0,14 kr./min. Fast pris kræver et koststop.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3D03BFD6-B02C-4130-98FF-9DB339A8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Kilder: badlegion.github.io/intelli-prisark/GRUNDLAG.md. Opstart, integrationer, SLA og udvikling er ikke prissat.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3A3E21EB-9991-4E7B-AAEB-455B8642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08 / 8</a:t>
            </a:r>
          </a:p>
        </p:txBody>
      </p:sp>
    </p:spTree>
    <p:extLst>
      <p:ext uri="{BB962C8B-B14F-4D97-AF65-F5344CB8AC3E}">
        <p14:creationId xmlns:p14="http://schemas.microsoft.com/office/powerpoint/2010/main" val="16936776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2026-09-09T21:25:12.6510000Z</dcterms:created>
  <dcterms:modified xsi:type="dcterms:W3CDTF">2026-09-09T21:25:12.6510000Z</dcterms:modified>
</coreProperties>
</file>