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35aa5e1ac24f45" /><Relationship Type="http://schemas.openxmlformats.org/officeDocument/2006/relationships/extended-properties" Target="/docProps/app.xml" Id="R92c5db3878ab4b4d" /><Relationship Type="http://schemas.openxmlformats.org/officeDocument/2006/relationships/officeDocument" Target="/ppt/presentation.xml" Id="R562674391bcb48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3b35ddd93b42a5"/>
  </p:sldMasterIdLst>
  <p:notesMasterIdLst>
    <p:notesMasterId xmlns:r="http://schemas.openxmlformats.org/officeDocument/2006/relationships" r:id="R196100ddefac4f47"/>
  </p:notesMasterIdLst>
  <p:sldIdLst>
    <p:sldId xmlns:r="http://schemas.openxmlformats.org/officeDocument/2006/relationships" id="256" r:id="R653ac8390bfc4a1a"/>
    <p:sldId xmlns:r="http://schemas.openxmlformats.org/officeDocument/2006/relationships" id="257" r:id="R0d27069714cc47d6"/>
    <p:sldId xmlns:r="http://schemas.openxmlformats.org/officeDocument/2006/relationships" id="258" r:id="R434a5e0ef9e5489c"/>
    <p:sldId xmlns:r="http://schemas.openxmlformats.org/officeDocument/2006/relationships" id="259" r:id="Rdee70810185243dd"/>
    <p:sldId xmlns:r="http://schemas.openxmlformats.org/officeDocument/2006/relationships" id="260" r:id="Rb32698d8086a42d1"/>
    <p:sldId xmlns:r="http://schemas.openxmlformats.org/officeDocument/2006/relationships" id="261" r:id="R289d153a5e444c46"/>
    <p:sldId xmlns:r="http://schemas.openxmlformats.org/officeDocument/2006/relationships" id="262" r:id="R9049923bc6024c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abbd959e364caa" /><Relationship Type="http://schemas.openxmlformats.org/officeDocument/2006/relationships/slideMaster" Target="/ppt/slideMasters/slideMaster1.xml" Id="Rf03b35ddd93b42a5" /><Relationship Type="http://schemas.openxmlformats.org/officeDocument/2006/relationships/notesMaster" Target="/ppt/notesMasters/notesMaster1.xml" Id="R196100ddefac4f47" /><Relationship Type="http://schemas.openxmlformats.org/officeDocument/2006/relationships/presProps" Target="/ppt/presProps.xml" Id="Rb5d848fc64f44dea" /><Relationship Type="http://schemas.openxmlformats.org/officeDocument/2006/relationships/tableStyles" Target="/ppt/tableStyles.xml" Id="Ref5039cf36fa42b5" /><Relationship Type="http://schemas.openxmlformats.org/officeDocument/2006/relationships/slide" Target="/ppt/slides/slide1.xml" Id="R653ac8390bfc4a1a" /><Relationship Type="http://schemas.openxmlformats.org/officeDocument/2006/relationships/slide" Target="/ppt/slides/slide2.xml" Id="R0d27069714cc47d6" /><Relationship Type="http://schemas.openxmlformats.org/officeDocument/2006/relationships/slide" Target="/ppt/slides/slide3.xml" Id="R434a5e0ef9e5489c" /><Relationship Type="http://schemas.openxmlformats.org/officeDocument/2006/relationships/slide" Target="/ppt/slides/slide4.xml" Id="Rdee70810185243dd" /><Relationship Type="http://schemas.openxmlformats.org/officeDocument/2006/relationships/slide" Target="/ppt/slides/slide5.xml" Id="Rb32698d8086a42d1" /><Relationship Type="http://schemas.openxmlformats.org/officeDocument/2006/relationships/slide" Target="/ppt/slides/slide6.xml" Id="R289d153a5e444c46" /><Relationship Type="http://schemas.openxmlformats.org/officeDocument/2006/relationships/slide" Target="/ppt/slides/slide7.xml" Id="R9049923bc6024c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8947b4a26943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6fd465bbad46ae" /><Relationship Type="http://schemas.openxmlformats.org/officeDocument/2006/relationships/notesMaster" Target="/ppt/notesMasters/notesMaster1.xml" Id="R3693f5a2b32440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fbd0d576224a3e" /><Relationship Type="http://schemas.openxmlformats.org/officeDocument/2006/relationships/notesMaster" Target="/ppt/notesMasters/notesMaster1.xml" Id="Re4b3bc64d9924f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8e88d7cf3640ec" /><Relationship Type="http://schemas.openxmlformats.org/officeDocument/2006/relationships/notesMaster" Target="/ppt/notesMasters/notesMaster1.xml" Id="R420ae6e88d804c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b9604be39d4a2b" /><Relationship Type="http://schemas.openxmlformats.org/officeDocument/2006/relationships/notesMaster" Target="/ppt/notesMasters/notesMaster1.xml" Id="Re74331fea88d45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7a4ae1cb6c4a83" /><Relationship Type="http://schemas.openxmlformats.org/officeDocument/2006/relationships/notesMaster" Target="/ppt/notesMasters/notesMaster1.xml" Id="R9ce201138d2c49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b8f8063da94fbb" /><Relationship Type="http://schemas.openxmlformats.org/officeDocument/2006/relationships/notesMaster" Target="/ppt/notesMasters/notesMaster1.xml" Id="Race8c744622743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0bb2d8b4e940a1" /><Relationship Type="http://schemas.openxmlformats.org/officeDocument/2006/relationships/notesMaster" Target="/ppt/notesMasters/notesMaster1.xml" Id="R1d99f9bde24f47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Første minut: AI 0,22 + telefoni 0,04 = 0,26 kr. (inkl. 20 % AI-reserve). DB = salg - kost, før fast drift. Påbegyndte minutter.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Skøn: 3 svar/min., 40 % AI-tale, 4.000 prompttokens og fuld inputstream. Historik genlæses. Beløb beregnes før afrunding.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Server regnes én gang pr. installation. Kapacitet er skøn. Særtilbud: 20 for 60.000,00 kr./md. er ikke indregnet 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Kost summeres før afrunding. Ekstra AI-mail: 0,15 kr./behandling; webchat: 0,25 kr./svar. Pakkerne er tillæg til telefoni.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https://gatewayapi.com/pricing/</a:t>
            </a:r>
          </a:p>
          <a:p xmlns:a="http://schemas.openxmlformats.org/drawingml/2006/main">
            <a:r>
              <a:t>https://www.twilio.com/en-us/sms/pricing/dk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Kost = AI 6.276,11 + omstilling 3.811,95 + nummer 96,75 = 10.184,81 kr.</a:t>
            </a:r>
          </a:p>
          <a:p xmlns:a="http://schemas.openxmlformats.org/drawingml/2006/main">
            <a:r>
              <a:t>Månedstotaler beregnes før afrunding. Ingen SMS, partner eller gebyr.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Resultat = DB - server 74,60 kr. - supportreserve 500,00 kr. Ingen SMS, gebyr eller ejerløn. Partnerprovision er ikke aftalt.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Kilder: badlegion.github.io/intelli-prisark/GRUNDLAG.md. Opstart, integrationer, SLA og udvikling er ikke prissat.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https://cloud.google.com/vertex-ai/generative-ai/pricing</a:t>
            </a:r>
          </a:p>
          <a:p xmlns:a="http://schemas.openxmlformats.org/drawingml/2006/main">
            <a:r>
              <a:t>https://ai.google.dev/gemini-api/docs/live-api/capabilities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210ec488f940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7cb021251a4a10" /><Relationship Type="http://schemas.openxmlformats.org/officeDocument/2006/relationships/slideLayout" Target="/ppt/slideLayouts/slideLayout1.xml" Id="Rdabcc02d35004c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bcc02d35004c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59d0a959c471d" /><Relationship Type="http://schemas.openxmlformats.org/officeDocument/2006/relationships/notesSlide" Target="/ppt/notesSlides/notesSlide1.xml" Id="Rb9e9490b3e0a43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ef813d86d49c1" /><Relationship Type="http://schemas.openxmlformats.org/officeDocument/2006/relationships/notesSlide" Target="/ppt/notesSlides/notesSlide2.xml" Id="R652e6509bfeb4e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cd80b489d46f4" /><Relationship Type="http://schemas.openxmlformats.org/officeDocument/2006/relationships/notesSlide" Target="/ppt/notesSlides/notesSlide3.xml" Id="R6d78339e0b1f4c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64053097c4960" /><Relationship Type="http://schemas.openxmlformats.org/officeDocument/2006/relationships/notesSlide" Target="/ppt/notesSlides/notesSlide4.xml" Id="Rcb4cdc4b7f3245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8ab73b94b418f" /><Relationship Type="http://schemas.openxmlformats.org/officeDocument/2006/relationships/notesSlide" Target="/ppt/notesSlides/notesSlide5.xml" Id="Rec2ee7e7be5540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0a3d1b4c74856" /><Relationship Type="http://schemas.openxmlformats.org/officeDocument/2006/relationships/notesSlide" Target="/ppt/notesSlides/notesSlide6.xml" Id="R840a764b870242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d291908a14f19" /><Relationship Type="http://schemas.openxmlformats.org/officeDocument/2006/relationships/notesSlide" Target="/ppt/notesSlides/notesSlide7.xml" Id="R50abf23b0f1047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61CA852B-717B-4B65-8D90-52BB43E5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Alle minutpriser samlet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4700D3-A82E-487E-AFA1-A329E460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Gemini. DKK ekskl. moms. Kost er budget; salg er vores prisforslag.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0861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67250"/>
                <a:gridCol w="2095500"/>
                <a:gridCol w="2095500"/>
                <a:gridCol w="2114550"/>
              </a:tblGrid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Ydelse / samtalelængde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kost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Salgspris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første 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3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8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mobil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fastnet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53DA515-C73E-4F33-AF4D-4AECCE46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Abonnement: 4.000,00 kr. pr. digital medarbejder / måned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8F83680D-AC38-4765-9A90-48D38A5A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Maks. 8 min. AI, så betalt omstilling. Ingen inkluderede minutter.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CA13A54-213D-46D0-80CF-C0570FD3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Første minut: AI 0,22 + telefoni 0,04 = 0,26 kr. (inkl. 20 % AI-reserve). DB = salg - kost, før fast drift. Påbegyndte minutter.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AEDEC147-DB13-4E64-B995-63BB8E17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01 / 7</a:t>
            </a:r>
          </a:p>
        </p:txBody>
      </p:sp>
    </p:spTree>
    <p:extLst>
      <p:ext uri="{BB962C8B-B14F-4D97-AF65-F5344CB8AC3E}">
        <p14:creationId xmlns:p14="http://schemas.microsoft.com/office/powerpoint/2010/main" val="6541836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CCF8A2E0-A60C-47D9-A6D9-D9A36104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AI-kost fra første til sidste minut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EB76E09-F61E-41FF-8B66-8DE45F98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Hele AI-fasen: 6,28 kr. for 8 min. Gennemsnit: 0,78 kr./min.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64F539C-1F96-4F8B-9C2A-7C4A1827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for 8 min. AI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ED5AE9B-9593-443C-9732-C4876F23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676400"/>
            <a:ext cx="4838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minut for minut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5857875" cy="3667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314825"/>
                <a:gridCol w="1543050"/>
              </a:tblGrid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Kostled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Beløb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Ny lyd ind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Lydhistorik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3,74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AI-stemme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Prompt og værktøjer · første gang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Prompt og teksthistorik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Tekst / transskription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AI-delsum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4,94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Reserve, 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Telefoni,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Samlet kost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753225" y="2057400"/>
          <a:ext xmlns:a="http://schemas.openxmlformats.org/drawingml/2006/main" cx="48291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90600"/>
                <a:gridCol w="1924050"/>
                <a:gridCol w="1914525"/>
              </a:tblGrid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Dette minut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Indtil nu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1,94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0,86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2,80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1,16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min.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1,31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5DB7FDDA-05C0-4F60-95DC-AEC5A1FB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591175"/>
            <a:ext cx="4829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Indtil nu = summen af minutterne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ED18F613-61CD-4245-91EA-9E992692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5857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4,94 + 0,99 + 0,35 = 6,28 kr.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D48E9C33-C6F6-4C01-A86E-815DE9DD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Skøn: 3 svar/min., 40 % AI-tale, 4.000 prompttokens og fuld inputstream. Historik genlæses. Beløb beregnes før afrunding.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D573E0EE-39DA-43B8-A8B3-8E368951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02 / 7</a:t>
            </a:r>
          </a:p>
        </p:txBody>
      </p:sp>
    </p:spTree>
    <p:extLst>
      <p:ext uri="{BB962C8B-B14F-4D97-AF65-F5344CB8AC3E}">
        <p14:creationId xmlns:p14="http://schemas.microsoft.com/office/powerpoint/2010/main" val="8853592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859D4DE5-885C-4420-8361-516A2F7C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 og faste udgifter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9D72BDF-9F7A-43CC-A8EE-612C63C1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Abonnement = antal × 4.000,00 kr./md. Én medarbejder = én samtidig samtale, også ved omstilling.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3333750"/>
                <a:gridCol w="2667000"/>
                <a:gridCol w="2876550"/>
              </a:tblGrid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Abonnement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server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kanalleje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388,58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773,51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D6A6578F-FC22-4A4B-A081-93160F2F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Nummer 96,75 kr. + supportreserve 500,00 kr. = 596,75 kr. / kunde / md.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5C8E83C5-6899-4654-8B7B-4A783A03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Kunden får 24/7 og ét nummer; minutter betales separat. Server og kanalleje kommer oveni vores kost.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CCAEA86C-DDF0-4647-AF5A-CE5C862E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Server regnes én gang pr. installation. Kapacitet er skøn. Særtilbud: 20 for 60.000,00 kr./md. er ikke indregnet her.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C9714AD0-5046-4104-A484-8846EF8A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03 / 7</a:t>
            </a:r>
          </a:p>
        </p:txBody>
      </p:sp>
    </p:spTree>
    <p:extLst>
      <p:ext uri="{BB962C8B-B14F-4D97-AF65-F5344CB8AC3E}">
        <p14:creationId xmlns:p14="http://schemas.microsoft.com/office/powerpoint/2010/main" val="13577865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A8E47FC6-79D3-48CB-B676-FCC9F96A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SMS, mail og AI-pakker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A18C3DF-E86D-428F-9FF4-7CAB39B9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Pakker: 1.000 AI-svar/md. SMS-robot: 1.000 SMS ind + 1.000 ud. SMS afregnes pr. segment.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DB41003-28B3-46BB-AED1-4A476CB0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Transport pr. enhed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DA899BC-2282-4D2B-AC5E-520E0D09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85925"/>
            <a:ext cx="541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AI-pakker ved 1.000 / måned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09775"/>
                <a:gridCol w="1076325"/>
                <a:gridCol w="1076325"/>
                <a:gridCol w="1076325"/>
              </a:tblGrid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Enhed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GatewayAPI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ind,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72200" y="2076450"/>
          <a:ext xmlns:a="http://schemas.openxmlformats.org/drawingml/2006/main" cx="5410200" cy="2743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81175"/>
                <a:gridCol w="1209675"/>
                <a:gridCol w="1209675"/>
                <a:gridCol w="1209675"/>
              </a:tblGrid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Pakke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Mail-robot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75,47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223,53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Webchat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159,64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339,36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SMS-robot inkl. 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472,79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909,00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436,21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C3A1C278-D9FB-4DEB-86BB-542CA366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SMS-robot: sådan bliver månedsbeløbet til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141F7E34-149B-4600-A076-7451865D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Salg: 299,00 abonnement + 100,00 AI + 60,00 SMS ind + 450,00 SMS ud = 909,00 kr.</a:t>
            </a:r>
          </a:p>
          <a:p xmlns:a="http://schemas.openxmlformats.org/drawingml/2006/main">
            <a:pPr algn="l">
              <a:defRPr sz="150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Kost: 42,57 AI + 48,38 SMS ind + 381,84 SMS ud = 472,79 kr.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099D9D22-7F46-4ABA-BF97-DA0C9D1F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Kost summeres før afrunding. Ekstra AI-mail: 0,15 kr./behandling; webchat: 0,25 kr./svar. Pakkerne er tillæg til telefoni.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8181635D-715F-4218-B7C0-FC126692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04 / 7</a:t>
            </a:r>
          </a:p>
        </p:txBody>
      </p:sp>
    </p:spTree>
    <p:extLst>
      <p:ext uri="{BB962C8B-B14F-4D97-AF65-F5344CB8AC3E}">
        <p14:creationId xmlns:p14="http://schemas.microsoft.com/office/powerpoint/2010/main" val="9261231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1AA82A78-48AD-402F-ACDF-55300E89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 og vores månedsregnskab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AD4A096-66FB-401C-8F4A-671A83B7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3 medarbejdere. 1.000 opkald/md. Alle får 8 min. AI + 10 min. omstilling til DK mobil.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B951217-70AD-4C75-9428-7381725C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76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opkald: 8 min. AI + 10 min. mobil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0256F70-6A9C-4504-85C9-9C09187D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6668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Vores regnskab / måned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5781675" cy="18669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Fase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Mobil,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Opkald i alt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10,09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16,90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6,81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E5A09D97-84B2-4AC3-8401-918777A6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77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Andre opkald med længere omstilling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4572000"/>
          <a:ext xmlns:a="http://schemas.openxmlformats.org/drawingml/2006/main" cx="5781675" cy="12287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+ menneske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+ 30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26,70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+ 60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29,15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41,40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12,25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734175" y="2047875"/>
          <a:ext xmlns:a="http://schemas.openxmlformats.org/drawingml/2006/main" cx="484822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90850"/>
                <a:gridCol w="1857375"/>
              </a:tblGrid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Pr. måned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Abonnement (3 stk.)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 (8.000 min.)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Omstilling (10.000 min.)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4.900,00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Indtægt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28.900,00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Opkald og nummer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Dækningsbidrag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Server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Supportreserve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Resultat før skat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F1078352-0C2F-4AE9-B84B-88057256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5534025"/>
            <a:ext cx="4848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5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563"/>
                </a:solidFill>
                <a:latin typeface="Arial"/>
                <a:ea typeface="Arial"/>
                <a:cs typeface="Arial"/>
              </a:rPr>
              <a:t>Dækningsgrad: 64,8 %</a:t>
            </a:r>
          </a:p>
        </p:txBody>
      </p:sp>
      <p:sp>
        <p:nvSpPr>
          <p:cNvPr id="10" name="text-6">
            <a:extLst xmlns:a="http://schemas.openxmlformats.org/drawingml/2006/main">
              <a:ext uri="{FF2B5EF4-FFF2-40B4-BE49-F238E27FC236}">
                <a16:creationId xmlns:a16="http://schemas.microsoft.com/office/drawing/2014/main" id="{E2CE0707-2B52-4107-B74F-89D969F0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Kost = AI 6.276,11 + omstilling 3.811,95 + nummer 96,75 = 10.184,81 kr.</a:t>
            </a:r>
          </a:p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Månedstotaler beregnes før afrunding. Ingen SMS, partner eller gebyr.</a:t>
            </a:r>
          </a:p>
        </p:txBody>
      </p:sp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D6A7BB94-DCCA-4524-94C3-CD99AB1F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05 / 7</a:t>
            </a:r>
          </a:p>
        </p:txBody>
      </p:sp>
    </p:spTree>
    <p:extLst>
      <p:ext uri="{BB962C8B-B14F-4D97-AF65-F5344CB8AC3E}">
        <p14:creationId xmlns:p14="http://schemas.microsoft.com/office/powerpoint/2010/main" val="16204536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FE02A8DA-DF47-4872-A7BC-0BC25F0E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Kundestørrelser og partnerprovision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4B5CED8-AAA1-4318-8F08-3970226C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Alle opkald: 8 min. AI + 10 min. DK mobil. Hver række er én separat kundecase.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2047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14600"/>
                <a:gridCol w="2114550"/>
                <a:gridCol w="2114550"/>
                <a:gridCol w="2114550"/>
                <a:gridCol w="2114550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 / opkald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Direkte 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/ 500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12.450,00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5.140,78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7.309,22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6.734,62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1.000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28.900,00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2.000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45.800,00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20.272,87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25.527,13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24.952,53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/ 10.000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249.000,00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100.977,33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148.022,67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147.448,07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183BC68B-52A6-45F5-AB65-6094BB76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Partner: 0-30 % af abonnementet på 12.000,00 kr./md. Samme kunde med 1.000 opkald.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4362450"/>
          <a:ext xmlns:a="http://schemas.openxmlformats.org/drawingml/2006/main" cx="10972800" cy="1619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790950"/>
                <a:gridCol w="2381250"/>
                <a:gridCol w="2381250"/>
                <a:gridCol w="2419350"/>
              </a:tblGrid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Provision af abonnement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Til partner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efter partner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1.200,00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17.515,19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16.940,59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2.400,00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16.315,19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15.740,59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3.600,00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15.115,19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14.540,59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BFC12649-54E2-47A6-8401-D597B3A0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Resultat = DB - server 74,60 kr. - supportreserve 500,00 kr. Ingen SMS, gebyr eller ejerløn. Partnerprovision er ikke aftalt.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2B5AAA19-51F9-48D2-B502-F9CD2DDB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06 / 7</a:t>
            </a:r>
          </a:p>
        </p:txBody>
      </p:sp>
    </p:spTree>
    <p:extLst>
      <p:ext uri="{BB962C8B-B14F-4D97-AF65-F5344CB8AC3E}">
        <p14:creationId xmlns:p14="http://schemas.microsoft.com/office/powerpoint/2010/main" val="2779344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8812DE8B-49EE-4A67-98F3-A5A952E5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Forudsætninger for priserne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75A3F718-9F2B-4C3C-BB73-18E7B00B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Budget pr. 9. september 2026. Krav før salg med fast pris.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52700"/>
                <a:gridCol w="8420100"/>
              </a:tblGrid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Emne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Forudsætning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AI-kost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Skøn med 20 % reserve. Faktisk forbrug skal måles.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Fastprisbeskyttelse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Implementér omstilling efter 8 min., faseafregning og tokenbaseret koststop. Kodens timeout er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Vertex AI og EU/EØS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Mål: flersproget Gemini 3.1 Flash Live på Vertex. Tilgængelighed, pris, EU-region og datakæde skal bekræftes.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F75E2E0A-7230-44AA-B9C1-B8A1B274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Stresstest: 6 svar/min., 60 % AI-tale og 8 min. AI.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2A2ED17-9471-43F4-B994-3906A6BF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Salg 1,50 kr. - kost 1,64 kr. = tab 0,14 kr./min. Fast pris kræver et koststop.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0C04FBF-C756-4E6B-A2D2-A892FE8E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Kilder: badlegion.github.io/intelli-prisark/GRUNDLAG.md. Opstart, integrationer, SLA og udvikling er ikke prissat.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3A060059-4584-4D19-B756-932E84CB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07 / 7</a:t>
            </a:r>
          </a:p>
        </p:txBody>
      </p:sp>
    </p:spTree>
    <p:extLst>
      <p:ext uri="{BB962C8B-B14F-4D97-AF65-F5344CB8AC3E}">
        <p14:creationId xmlns:p14="http://schemas.microsoft.com/office/powerpoint/2010/main" val="1327045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2026-09-09T14:00:13.4910000Z</dcterms:created>
  <dcterms:modified xsi:type="dcterms:W3CDTF">2026-09-09T14:00:13.4910000Z</dcterms:modified>
</coreProperties>
</file>